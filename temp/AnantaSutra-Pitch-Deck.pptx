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709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1143000"/>
            <a:ext cx="4572000" cy="4572000"/>
          </a:xfrm>
          <a:prstGeom prst="ellipse">
            <a:avLst/>
          </a:prstGeom>
          <a:noFill/>
          <a:ln w="1397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60920" y="1645920"/>
            <a:ext cx="3566160" cy="3566160"/>
          </a:xfrm>
          <a:prstGeom prst="ellipse">
            <a:avLst/>
          </a:prstGeom>
          <a:noFill/>
          <a:ln w="13970">
            <a:solidFill>
              <a:srgbClr val="6A3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0" y="2148840"/>
            <a:ext cx="2560320" cy="2560320"/>
          </a:xfrm>
          <a:prstGeom prst="ellipse">
            <a:avLst/>
          </a:prstGeom>
          <a:noFill/>
          <a:ln w="1397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66760" y="2651760"/>
            <a:ext cx="1554480" cy="1554480"/>
          </a:xfrm>
          <a:prstGeom prst="ellipse">
            <a:avLst/>
          </a:prstGeom>
          <a:noFill/>
          <a:ln w="13970">
            <a:solidFill>
              <a:srgbClr val="6A3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 rot="20735612">
            <a:off x="7964705" y="3025936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 i="0" dirty="0">
                <a:solidFill>
                  <a:srgbClr val="3A2E12"/>
                </a:solidFill>
                <a:latin typeface="Segoe UI"/>
              </a:rPr>
              <a:t>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317"/>
                </a:solidFill>
                <a:latin typeface="Segoe UI"/>
              </a:rPr>
              <a:t>अनन्तसूत्र   ·   ANANTASUTRA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65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Segoe UI"/>
              </a:rPr>
              <a:t>AnantaSutra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063240"/>
            <a:ext cx="1005840" cy="457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0C040"/>
                </a:solidFill>
                <a:latin typeface="Segoe UI"/>
              </a:rPr>
              <a:t>Not a project. A dedicated expert.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9CAD3"/>
                </a:solidFill>
                <a:latin typeface="Segoe UI"/>
              </a:rPr>
              <a:t>Vetted domain professionals — any field — embedded inside your team, for as long as you need. You pay just the salary.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Bhavya Duneja — Co-founder    ·    Delhi,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8A317"/>
                </a:solidFill>
                <a:latin typeface="Segoe UI"/>
              </a:rPr>
              <a:t>anantasutra.com    ·    contact@anantasutra.com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We don't sell deliverables. We place a person.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50" b="0" i="0" dirty="0">
                <a:solidFill>
                  <a:srgbClr val="C9CAD3"/>
                </a:solidFill>
                <a:latin typeface="Segoe UI"/>
              </a:rPr>
              <a:t>Most agencies hand you a project and disappear. </a:t>
            </a:r>
            <a:r>
              <a:rPr sz="1650" b="0" i="0" dirty="0" err="1">
                <a:solidFill>
                  <a:srgbClr val="C9CAD3"/>
                </a:solidFill>
                <a:latin typeface="Segoe UI"/>
              </a:rPr>
              <a:t>AnantaSutra</a:t>
            </a:r>
            <a:r>
              <a:rPr sz="1650" b="0" i="0" dirty="0">
                <a:solidFill>
                  <a:srgbClr val="C9CAD3"/>
                </a:solidFill>
                <a:latin typeface="Segoe UI"/>
              </a:rPr>
              <a:t> assigns a vetted expert who becomes part of your team — they attend your standups, learn your product, and own your KPIs, because they're not splitting time across ten clients.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 dirty="0">
                <a:solidFill>
                  <a:srgbClr val="C9CAD3"/>
                </a:solidFill>
                <a:latin typeface="Segoe UI"/>
              </a:rPr>
              <a:t>One domain or many. In-house or remote. An afternoon or a full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057400"/>
            <a:ext cx="3749039" cy="3017520"/>
          </a:xfrm>
          <a:prstGeom prst="roundRect">
            <a:avLst>
              <a:gd name="adj" fmla="val 5000"/>
            </a:avLst>
          </a:prstGeom>
          <a:solidFill>
            <a:srgbClr val="1B1612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56032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“You run your business.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0C040"/>
                </a:solidFill>
                <a:latin typeface="Segoe UI"/>
              </a:rPr>
              <a:t>Your expert runs your execution.”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FFFFFF"/>
                </a:solidFill>
                <a:latin typeface="Segoe UI"/>
              </a:rPr>
              <a:t>Hiring is slow. Agencies are detached.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 dirty="0">
                <a:solidFill>
                  <a:srgbClr val="FFFFFF"/>
                </a:solidFill>
                <a:latin typeface="Segoe UI"/>
              </a:rPr>
              <a:t>Hiring takes months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Job posts, interviews, notice periods.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By the time someone finally starts,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the opportunity has already passed.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240280"/>
            <a:ext cx="310896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67784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 dirty="0">
                <a:solidFill>
                  <a:srgbClr val="FFFFFF"/>
                </a:solidFill>
                <a:latin typeface="Segoe UI"/>
              </a:rPr>
              <a:t>Agencies juggle ten clients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And mark talent up 30–50%. You pay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₹1.5L for someone earning ₹1L 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and you're just one account of many.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5528" y="2240280"/>
            <a:ext cx="310896" cy="32004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5488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 dirty="0">
                <a:solidFill>
                  <a:srgbClr val="FFFFFF"/>
                </a:solidFill>
                <a:latin typeface="Segoe UI"/>
              </a:rPr>
              <a:t>Freelancers aren't embedded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No ownership, no context, no real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accountability. Work slips through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the cracks between hand-offs.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3232" y="2240280"/>
            <a:ext cx="310896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OUR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Dedicated domain experts, on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F0C040"/>
                </a:solidFill>
                <a:latin typeface="Segoe UI"/>
              </a:rPr>
              <a:t>Any Domain, One Partner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An engineer today, a lawyer next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month — every field through a single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relationship. No juggling vendors.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240280"/>
            <a:ext cx="310896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67784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 dirty="0">
                <a:solidFill>
                  <a:srgbClr val="F0C040"/>
                </a:solidFill>
                <a:latin typeface="Segoe UI"/>
              </a:rPr>
              <a:t>Embedded, Not Outsourced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Your expert works inside your team,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under your direction — in-house 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remote. Real ownership, not tickets.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5528" y="2240280"/>
            <a:ext cx="310896" cy="32004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5488" y="2057400"/>
            <a:ext cx="3453384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19456" bIns="182880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50" b="1" i="0" dirty="0">
                <a:solidFill>
                  <a:srgbClr val="F0C040"/>
                </a:solidFill>
                <a:latin typeface="Segoe UI"/>
              </a:rPr>
              <a:t>Flexible by Design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Scale up when you grow, wind down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when you don't. Add experts, pause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solidFill>
                  <a:srgbClr val="C9CAD3"/>
                </a:solidFill>
                <a:latin typeface="Segoe UI"/>
              </a:rPr>
              <a:t>anytime — no lock-ins.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3232" y="2240280"/>
            <a:ext cx="310896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ANY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Whatever expertise you need.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59" y="2121408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212848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 dirty="0">
                <a:solidFill>
                  <a:srgbClr val="FFFFFF"/>
                </a:solidFill>
                <a:latin typeface="Segoe UI"/>
              </a:rPr>
              <a:t>Engineering &amp;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C9CAD3"/>
                </a:solidFill>
                <a:latin typeface="Segoe UI"/>
              </a:rPr>
              <a:t>Full-Stack · Backend · DevOps ·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6714" y="192024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9594" y="2121408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9594" y="2212848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 dirty="0">
                <a:solidFill>
                  <a:srgbClr val="FFFFFF"/>
                </a:solidFill>
                <a:latin typeface="Segoe UI"/>
              </a:rPr>
              <a:t>AI &amp;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C9CAD3"/>
                </a:solidFill>
                <a:latin typeface="Segoe UI"/>
              </a:rPr>
              <a:t>ML · Data Science ·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192024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96228" y="2121408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6228" y="2212848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 dirty="0">
                <a:solidFill>
                  <a:srgbClr val="FFFFFF"/>
                </a:solidFill>
                <a:latin typeface="Segoe UI"/>
              </a:rPr>
              <a:t>Design &amp; Creative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C9CAD3"/>
                </a:solidFill>
                <a:latin typeface="Segoe UI"/>
              </a:rPr>
              <a:t>Product · Brand · UI/UX · Motion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9982" y="1920240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82862" y="2121408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2862" y="2212848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Marketing &amp; Growth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Performance · Growth · SEO · 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18688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59" y="3419856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511296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Video &amp; Content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Editors · Writers · Producers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6714" y="3218688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09594" y="3419856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09594" y="3511296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Legal &amp; Compliance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Corporate · Immigration · Contracts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3348" y="3218688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96228" y="3419856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6228" y="3511296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Healthcare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Clinical Advisory · Health Ops · Telehealth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9982" y="3218688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2862" y="3419856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2862" y="3511296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Finance &amp; Business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Analysts · FP&amp;A · Ops · Strategy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17136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59" y="4718304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4809744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Property &amp; Real Estate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Sales · Funnels · Listings · CRM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6714" y="4517136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09594" y="4718304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09594" y="4809744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E-commerce &amp; Retail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Store Ops · Catalogue · CRO · Retention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3348" y="4517136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96228" y="4718304"/>
            <a:ext cx="237744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96228" y="4809744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Immigration &amp; Mobility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Case Mgmt · Visa · Documentation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9982" y="4517136"/>
            <a:ext cx="2548890" cy="11887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2862" y="4718304"/>
            <a:ext cx="237744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82862" y="4809744"/>
            <a:ext cx="221970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Academic &amp; Research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AD3"/>
                </a:solidFill>
                <a:latin typeface="Segoe UI"/>
              </a:rPr>
              <a:t>Researchers · Subject Experts · Writers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F0C040"/>
                </a:solidFill>
                <a:latin typeface="Segoe UI"/>
              </a:rPr>
              <a:t>If it's a profession, we can embed an expert in it. The domain can be anything.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From need to onboarded in 7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01168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0C040"/>
                </a:solidFill>
                <a:latin typeface="Segoe U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Tell us your need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A 30-minute call on your business, the role you need, and the outcomes you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57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01168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0C040"/>
                </a:solidFill>
                <a:latin typeface="Segoe U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We match &amp; vet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We handpick 2–3 vetted pros from our network. You interview them and choose.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01168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0C040"/>
                </a:solidFill>
                <a:latin typeface="Segoe U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They join your team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Into your Slack, Notion and project tools — working as part of your team within 7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7413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37744" rIns="201168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0C040"/>
                </a:solidFill>
                <a:latin typeface="Segoe U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You stay focused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Weekly reviews, monthly reports, and one accountable point of contact.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Built for founders who value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7824" y="2185415"/>
            <a:ext cx="274320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29514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Dedicated, not shared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Your expert works only on your business — never juggling five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96596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05528" y="2185415"/>
            <a:ext cx="274320" cy="32004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5528" y="229514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Ramp-up in 7 days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Skip the 3-month hiring cycle. Productive from week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196596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33232" y="2185415"/>
            <a:ext cx="274320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3232" y="229514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Replace anytime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Wrong fit? We replace them within 48 hours. No long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" y="3922776"/>
            <a:ext cx="274320" cy="32004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03250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Scale on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Start with one expert. Add more as you grow. Pause when you don't.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7784" y="370332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05528" y="3922776"/>
            <a:ext cx="274320" cy="320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05528" y="403250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Backed by AnantaSutra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Every expert has our processes, tools and leadership behind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5488" y="3703320"/>
            <a:ext cx="3453384" cy="16002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33232" y="3922776"/>
            <a:ext cx="274320" cy="32004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3232" y="4032504"/>
            <a:ext cx="29961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Partnership mindset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CAD3"/>
                </a:solidFill>
                <a:latin typeface="Segoe UI"/>
              </a:rPr>
              <a:t>We grow when you grow — that's the whole reason this model exists.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You pay just the salary.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53384" cy="2788920"/>
          </a:xfrm>
          <a:prstGeom prst="roundRect">
            <a:avLst>
              <a:gd name="adj" fmla="val 5000"/>
            </a:avLst>
          </a:prstGeom>
          <a:solidFill>
            <a:srgbClr val="1B1612"/>
          </a:solidFill>
          <a:ln w="22225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74320" rtlCol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0C040"/>
                </a:solidFill>
                <a:latin typeface="Segoe UI"/>
              </a:rPr>
              <a:t>What you pay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The expert's monthly salary 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exactly what they earn.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That's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784" y="2057400"/>
            <a:ext cx="3453384" cy="27889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74320" rtlCol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What you don't pay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No agency markup (save 30–50%).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No recruitment fees. No overheads.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No hidden charges.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5488" y="2057400"/>
            <a:ext cx="3453384" cy="278892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74320" rtlCol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How we earn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A small, transparent coordination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fee — agreed upfront.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You see every rupee.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828292"/>
                </a:solidFill>
                <a:latin typeface="Segoe UI"/>
              </a:rPr>
              <a:t>Agencies charge ₹1.5L for someone earning ₹1L. We flipped it — you pay the salary, we earn a transparent fee, and you save lakhs every year.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Numbers that speak.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21458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E8A317"/>
                </a:solidFill>
                <a:latin typeface="Segoe UI"/>
              </a:rPr>
              <a:t>12+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Expert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57" y="2057400"/>
            <a:ext cx="2521458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E8A317"/>
                </a:solidFill>
                <a:latin typeface="Segoe UI"/>
              </a:rPr>
              <a:t>10+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Brands Delivered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057400"/>
            <a:ext cx="2521458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E8A317"/>
                </a:solidFill>
                <a:latin typeface="Segoe U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Continents 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7413" y="2057400"/>
            <a:ext cx="2521458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E8A317"/>
                </a:solidFill>
                <a:latin typeface="Segoe UI"/>
              </a:rPr>
              <a:t>7-Day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Avg.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453384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A3DE8"/>
                </a:solidFill>
                <a:latin typeface="Segoe UI"/>
              </a:rPr>
              <a:t>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Agency markup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784" y="3657600"/>
            <a:ext cx="3453384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A3DE8"/>
                </a:solidFill>
                <a:latin typeface="Segoe UI"/>
              </a:rPr>
              <a:t>48h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Replacement guarantee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5488" y="3657600"/>
            <a:ext cx="3453384" cy="13716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A3DE8"/>
                </a:solidFill>
                <a:latin typeface="Segoe U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AD3"/>
                </a:solidFill>
                <a:latin typeface="Segoe UI"/>
              </a:rPr>
              <a:t>Dedicated to your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9CAD3"/>
                </a:solidFill>
                <a:latin typeface="Segoe UI"/>
              </a:rPr>
              <a:t>A vetted network spanning 12+ disciplines — embedded, accountable, and aligned to your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CLIENT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Real brands. Real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01168" bIns="164592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 i="0">
                <a:solidFill>
                  <a:srgbClr val="E8A317"/>
                </a:solidFill>
                <a:latin typeface="Segoe UI"/>
              </a:rPr>
              <a:t>₹25L → ₹40L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Awish Clinic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AD3"/>
                </a:solidFill>
                <a:latin typeface="Segoe UI"/>
              </a:rPr>
              <a:t>Monthly revenue in 2 months — embedded web, CRM &amp; ads experts (Dermatology).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5857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01168" bIns="164592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 i="0">
                <a:solidFill>
                  <a:srgbClr val="6A3DE8"/>
                </a:solidFill>
                <a:latin typeface="Segoe UI"/>
              </a:rPr>
              <a:t>₹23L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BotWot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AD3"/>
                </a:solidFill>
                <a:latin typeface="Segoe UI"/>
              </a:rPr>
              <a:t>Average deal size closed across India, UAE &amp; Nigeria via an embedded marketing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01168" bIns="164592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 i="0">
                <a:solidFill>
                  <a:srgbClr val="E8A317"/>
                </a:solidFill>
                <a:latin typeface="Segoe UI"/>
              </a:rPr>
              <a:t>+46%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Zoom Wheels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AD3"/>
                </a:solidFill>
                <a:latin typeface="Segoe UI"/>
              </a:rPr>
              <a:t>Revenue growth driven by a dedicated ads expert (Automotive, Delhi).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7413" y="2057400"/>
            <a:ext cx="2521458" cy="32004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01168" bIns="164592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 i="0">
                <a:solidFill>
                  <a:srgbClr val="6A3DE8"/>
                </a:solidFill>
                <a:latin typeface="Segoe UI"/>
              </a:rPr>
              <a:t>+38%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Royal Properties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AD3"/>
                </a:solidFill>
                <a:latin typeface="Segoe UI"/>
              </a:rPr>
              <a:t>Traffic lift from embedded funnel &amp; landing-page experts (Real Estate).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Across industries and continents.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215798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wish-cli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26" y="2276856"/>
            <a:ext cx="548640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" y="3090672"/>
            <a:ext cx="219456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14553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Awish Clinic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Dermatology · 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3044" y="2011680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19348" y="215798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ducation-asp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191" y="2276856"/>
            <a:ext cx="548640" cy="548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19348" y="3090672"/>
            <a:ext cx="219456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9348" y="314553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Education Aspire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EdTech · Faridabad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6009" y="2011680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52313" y="215798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iant-migr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276856"/>
            <a:ext cx="548640" cy="548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252313" y="3090672"/>
            <a:ext cx="219456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2313" y="314553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Giant Migrations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Immigration · Qatar·UAE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8974" y="2011680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85278" y="215798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otw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120" y="2276856"/>
            <a:ext cx="548640" cy="5486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485278" y="3090672"/>
            <a:ext cx="219456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5278" y="314553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BotWot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AI · India·UAE·Nigeria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1939" y="2011680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18243" y="215798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zoom-whee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085" y="2276856"/>
            <a:ext cx="548640" cy="5486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718243" y="3090672"/>
            <a:ext cx="219456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314553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Zoom Wheels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Automotive · Delhi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86384" y="412394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royal-propert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226" y="4242816"/>
            <a:ext cx="548640" cy="5486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86384" y="5056631"/>
            <a:ext cx="219456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511149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Royal Properties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Real Estate · Delhi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73044" y="3977639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019348" y="412394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bluemoon-marke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191" y="4242816"/>
            <a:ext cx="548640" cy="54864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019348" y="5056631"/>
            <a:ext cx="219456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9348" y="511149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BlueMoon Marketing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Advertising · Delhi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06009" y="3977639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52313" y="412394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smile-with-kr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0156" y="4242816"/>
            <a:ext cx="548640" cy="54864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252313" y="5056631"/>
            <a:ext cx="219456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52313" y="511149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Smile With Kris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Dental · UK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38974" y="3977639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485278" y="412394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walk-through-my-le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3120" y="4242816"/>
            <a:ext cx="548640" cy="54864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7485278" y="5056631"/>
            <a:ext cx="219456" cy="2743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85278" y="511149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Walk Through My Lens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Travel · London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71939" y="3977639"/>
            <a:ext cx="1976932" cy="1828800"/>
          </a:xfrm>
          <a:prstGeom prst="roundRect">
            <a:avLst>
              <a:gd name="adj" fmla="val 5000"/>
            </a:avLst>
          </a:prstGeom>
          <a:solidFill>
            <a:srgbClr val="161620"/>
          </a:solidFill>
          <a:ln w="9525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718243" y="4123944"/>
            <a:ext cx="1684324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wisdom-of-min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7115" y="4408642"/>
            <a:ext cx="1446580" cy="216987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9718243" y="5056631"/>
            <a:ext cx="219456" cy="27432"/>
          </a:xfrm>
          <a:prstGeom prst="rect">
            <a:avLst/>
          </a:prstGeom>
          <a:solidFill>
            <a:srgbClr val="6A3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18243" y="5111496"/>
            <a:ext cx="1720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Wisdom of Mind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AD3"/>
                </a:solidFill>
                <a:latin typeface="Segoe UI"/>
              </a:rPr>
              <a:t>Vedic &amp; Wellness · Haryana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A317"/>
                </a:solidFill>
                <a:latin typeface="Segoe UI"/>
              </a:rP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Backed by a technologist-entrepreneur.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572768"/>
            <a:ext cx="777240" cy="41148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_portrait_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265176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103120"/>
            <a:ext cx="2651760" cy="265176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214884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Bhavya Duneja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8A317"/>
                </a:solidFill>
                <a:latin typeface="Segoe UI"/>
              </a:rPr>
              <a:t>Co-founder, AnantaSutra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C9CAD3"/>
                </a:solidFill>
                <a:latin typeface="Segoe UI"/>
              </a:rPr>
              <a:t>A software engineer and entrepreneur (.NET, React, AWS, Azure) bridging Delhi and Osaka, Japan. Bhavya leads a vetted network of professionals across 12+ domains — every expert backed by AnantaSutra's processes, tools and hands-on leadership.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F0C040"/>
                </a:solidFill>
                <a:latin typeface="Segoe UI"/>
              </a:rPr>
              <a:t>We grow when our clients grow — that's the whole reason this model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AnantaSutra   ·   anantasutra.com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2829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621024" y="640079"/>
            <a:ext cx="4937760" cy="4937760"/>
          </a:xfrm>
          <a:prstGeom prst="ellipse">
            <a:avLst/>
          </a:prstGeom>
          <a:noFill/>
          <a:ln w="1397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215384" y="1234440"/>
            <a:ext cx="3749039" cy="3749039"/>
          </a:xfrm>
          <a:prstGeom prst="ellipse">
            <a:avLst/>
          </a:prstGeom>
          <a:noFill/>
          <a:ln w="13970">
            <a:solidFill>
              <a:srgbClr val="6A3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09744" y="1828800"/>
            <a:ext cx="2560320" cy="2560320"/>
          </a:xfrm>
          <a:prstGeom prst="ellipse">
            <a:avLst/>
          </a:prstGeom>
          <a:noFill/>
          <a:ln w="1397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317"/>
                </a:solidFill>
                <a:latin typeface="Segoe UI"/>
              </a:rPr>
              <a:t>STOP JUGGLING. START GROWING.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Get your expert in 7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9CAD3"/>
                </a:solidFill>
                <a:latin typeface="Segoe UI"/>
              </a:rPr>
              <a:t>Tell us the role you need — we'll introduce your dedicated expert within a week. Free consultation, zero commitment.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402336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E8A317"/>
          </a:solidFill>
          <a:ln w="9525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A0A0F"/>
                </a:solidFill>
                <a:latin typeface="Segoe UI"/>
              </a:rPr>
              <a:t>contact@anantasutra.com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CAD3"/>
                </a:solidFill>
                <a:latin typeface="Segoe UI"/>
              </a:rPr>
              <a:t>anantasutra.com    ·    Delhi,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28292"/>
                </a:solidFill>
                <a:latin typeface="Segoe UI"/>
              </a:rPr>
              <a:t>Bhavya Duneja — Co-founder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1096</Words>
  <Application>Microsoft Office PowerPoint</Application>
  <PresentationFormat>ワイド画面</PresentationFormat>
  <Paragraphs>198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Duneja Bhavya</cp:lastModifiedBy>
  <cp:revision>3</cp:revision>
  <dcterms:created xsi:type="dcterms:W3CDTF">2013-01-27T09:14:16Z</dcterms:created>
  <dcterms:modified xsi:type="dcterms:W3CDTF">2026-06-18T07:28:32Z</dcterms:modified>
  <cp:category/>
</cp:coreProperties>
</file>