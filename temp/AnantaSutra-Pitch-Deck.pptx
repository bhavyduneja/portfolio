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0" d="100"/>
          <a:sy n="110" d="100"/>
        </p:scale>
        <p:origin x="59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solidFill>
                  <a:srgbClr val="E8A317"/>
                </a:solidFill>
                <a:latin typeface="Segoe UI"/>
              </a:rPr>
              <a:t>अनन्तसूत्र</a:t>
            </a:r>
            <a:r>
              <a:rPr sz="1400" b="1" i="0" dirty="0">
                <a:solidFill>
                  <a:srgbClr val="E8A317"/>
                </a:solidFill>
                <a:latin typeface="Segoe UI"/>
              </a:rPr>
              <a:t>   ·   ANANTASUTRA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96596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600" b="1" i="0">
                <a:solidFill>
                  <a:srgbClr val="FFFFFF"/>
                </a:solidFill>
                <a:latin typeface="Segoe UI"/>
              </a:rPr>
              <a:t>AnantaSutra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063240"/>
            <a:ext cx="1005840" cy="45720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0C040"/>
                </a:solidFill>
                <a:latin typeface="Segoe UI"/>
              </a:rPr>
              <a:t>Not a project. A dedicated expert.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886200"/>
            <a:ext cx="6492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 i="0" dirty="0">
                <a:solidFill>
                  <a:srgbClr val="C9CAD3"/>
                </a:solidFill>
                <a:latin typeface="Segoe UI"/>
              </a:rPr>
              <a:t>Vetted domain professionals — any field — embedded inside your team, for as long as you need. You pay just the salary.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7150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Bhavya Duneja — Co-founder    ·    Delhi, India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05332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E8A317"/>
                </a:solidFill>
                <a:latin typeface="Segoe UI"/>
              </a:rPr>
              <a:t>anantasutra.com    ·    contact@anantasutra.com</a:t>
            </a:r>
          </a:p>
        </p:txBody>
      </p:sp>
      <p:pic>
        <p:nvPicPr>
          <p:cNvPr id="15" name="図 1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6457" y="1661356"/>
            <a:ext cx="4222808" cy="42228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317"/>
                </a:solidFill>
                <a:latin typeface="Segoe UI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We don't sell deliverables. We place a person.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572768"/>
            <a:ext cx="777240" cy="41148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650" b="0" i="0" dirty="0">
                <a:solidFill>
                  <a:srgbClr val="C9CAD3"/>
                </a:solidFill>
                <a:latin typeface="Segoe UI"/>
              </a:rPr>
              <a:t>Most agencies hand you a project and disappear. </a:t>
            </a:r>
            <a:r>
              <a:rPr sz="1650" b="0" i="0" dirty="0" err="1">
                <a:solidFill>
                  <a:srgbClr val="C9CAD3"/>
                </a:solidFill>
                <a:latin typeface="Segoe UI"/>
              </a:rPr>
              <a:t>AnantaSutra</a:t>
            </a:r>
            <a:r>
              <a:rPr sz="1650" b="0" i="0" dirty="0">
                <a:solidFill>
                  <a:srgbClr val="C9CAD3"/>
                </a:solidFill>
                <a:latin typeface="Segoe UI"/>
              </a:rPr>
              <a:t> assigns a vetted expert who becomes part of your team — they attend your standups, learn your product, and own your KPIs, because they're not splitting time across ten clients.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 i="0" dirty="0">
                <a:solidFill>
                  <a:srgbClr val="C9CAD3"/>
                </a:solidFill>
                <a:latin typeface="Segoe UI"/>
              </a:rPr>
              <a:t>One domain or many. In-house or remote. An afternoon or a full year.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2057400"/>
            <a:ext cx="3749039" cy="3017520"/>
          </a:xfrm>
          <a:prstGeom prst="roundRect">
            <a:avLst>
              <a:gd name="adj" fmla="val 5000"/>
            </a:avLst>
          </a:prstGeom>
          <a:solidFill>
            <a:srgbClr val="1B1612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56032" rtlCol="0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“You run your business.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0C040"/>
                </a:solidFill>
                <a:latin typeface="Segoe UI"/>
              </a:rPr>
              <a:t>Your expert runs your execution.”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28292"/>
                </a:solidFill>
                <a:latin typeface="Segoe UI"/>
              </a:rPr>
              <a:t>AnantaSutra   ·   anantasutra.com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28292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317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 i="0" dirty="0">
                <a:solidFill>
                  <a:srgbClr val="FFFFFF"/>
                </a:solidFill>
                <a:latin typeface="Segoe UI"/>
              </a:rPr>
              <a:t>Hiring is slow. Agencies are detached.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572768"/>
            <a:ext cx="777240" cy="41148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3453384" cy="32004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37744" rIns="219456" bIns="182880" rtlCol="0" anchor="t"/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50" b="1" i="0" dirty="0">
                <a:solidFill>
                  <a:srgbClr val="FFFFFF"/>
                </a:solidFill>
                <a:latin typeface="Segoe UI"/>
              </a:rPr>
              <a:t>Hiring takes months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solidFill>
                  <a:srgbClr val="C9CAD3"/>
                </a:solidFill>
                <a:latin typeface="Segoe UI"/>
              </a:rPr>
              <a:t>Job posts, interviews, notice periods.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solidFill>
                  <a:srgbClr val="C9CAD3"/>
                </a:solidFill>
                <a:latin typeface="Segoe UI"/>
              </a:rPr>
              <a:t>By the time someone finally starts,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solidFill>
                  <a:srgbClr val="C9CAD3"/>
                </a:solidFill>
                <a:latin typeface="Segoe UI"/>
              </a:rPr>
              <a:t>the opportunity has already passed.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877824" y="2240280"/>
            <a:ext cx="310896" cy="32004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367784" y="2057400"/>
            <a:ext cx="3453384" cy="32004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37744" rIns="219456" bIns="182880" rtlCol="0" anchor="t"/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50" b="1" i="0" dirty="0">
                <a:solidFill>
                  <a:srgbClr val="FFFFFF"/>
                </a:solidFill>
                <a:latin typeface="Segoe UI"/>
              </a:rPr>
              <a:t>Agencies juggle ten clients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solidFill>
                  <a:srgbClr val="C9CAD3"/>
                </a:solidFill>
                <a:latin typeface="Segoe UI"/>
              </a:rPr>
              <a:t>And mark talent up 30–50%. You pay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solidFill>
                  <a:srgbClr val="C9CAD3"/>
                </a:solidFill>
                <a:latin typeface="Segoe UI"/>
              </a:rPr>
              <a:t>₹1.5L for someone earning ₹1L —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solidFill>
                  <a:srgbClr val="C9CAD3"/>
                </a:solidFill>
                <a:latin typeface="Segoe UI"/>
              </a:rPr>
              <a:t>and you're just one account of many.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605528" y="2240280"/>
            <a:ext cx="310896" cy="32004"/>
          </a:xfrm>
          <a:prstGeom prst="rect">
            <a:avLst/>
          </a:prstGeom>
          <a:solidFill>
            <a:srgbClr val="6A3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095488" y="2057400"/>
            <a:ext cx="3453384" cy="32004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37744" rIns="219456" bIns="182880" rtlCol="0" anchor="t"/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50" b="1" i="0" dirty="0">
                <a:solidFill>
                  <a:srgbClr val="FFFFFF"/>
                </a:solidFill>
                <a:latin typeface="Segoe UI"/>
              </a:rPr>
              <a:t>Freelancers aren't embedded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solidFill>
                  <a:srgbClr val="C9CAD3"/>
                </a:solidFill>
                <a:latin typeface="Segoe UI"/>
              </a:rPr>
              <a:t>No ownership, no context, no real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solidFill>
                  <a:srgbClr val="C9CAD3"/>
                </a:solidFill>
                <a:latin typeface="Segoe UI"/>
              </a:rPr>
              <a:t>accountability. Work slips through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solidFill>
                  <a:srgbClr val="C9CAD3"/>
                </a:solidFill>
                <a:latin typeface="Segoe UI"/>
              </a:rPr>
              <a:t>the cracks between hand-offs.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33232" y="2240280"/>
            <a:ext cx="310896" cy="32004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28292"/>
                </a:solidFill>
                <a:latin typeface="Segoe UI"/>
              </a:rPr>
              <a:t>AnantaSutra   ·   anantasutra.com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28292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317"/>
                </a:solidFill>
                <a:latin typeface="Segoe UI"/>
              </a:rPr>
              <a:t>OUR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Dedicated domain experts, on demand.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572768"/>
            <a:ext cx="777240" cy="41148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3453384" cy="32004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37744" rIns="219456" bIns="182880" rtlCol="0" anchor="t"/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50" b="1" i="0">
                <a:solidFill>
                  <a:srgbClr val="F0C040"/>
                </a:solidFill>
                <a:latin typeface="Segoe UI"/>
              </a:rPr>
              <a:t>Any Domain, One Partner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C9CAD3"/>
                </a:solidFill>
                <a:latin typeface="Segoe UI"/>
              </a:rPr>
              <a:t>An engineer today, a lawyer next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C9CAD3"/>
                </a:solidFill>
                <a:latin typeface="Segoe UI"/>
              </a:rPr>
              <a:t>month — every field through a single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C9CAD3"/>
                </a:solidFill>
                <a:latin typeface="Segoe UI"/>
              </a:rPr>
              <a:t>relationship. No juggling vendors.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77824" y="2240280"/>
            <a:ext cx="310896" cy="32004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367784" y="2057400"/>
            <a:ext cx="3453384" cy="32004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37744" rIns="219456" bIns="182880" rtlCol="0" anchor="t"/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50" b="1" i="0" dirty="0">
                <a:solidFill>
                  <a:srgbClr val="F0C040"/>
                </a:solidFill>
                <a:latin typeface="Segoe UI"/>
              </a:rPr>
              <a:t>Embedded, Not Outsourced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solidFill>
                  <a:srgbClr val="C9CAD3"/>
                </a:solidFill>
                <a:latin typeface="Segoe UI"/>
              </a:rPr>
              <a:t>Your expert works inside your team,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solidFill>
                  <a:srgbClr val="C9CAD3"/>
                </a:solidFill>
                <a:latin typeface="Segoe UI"/>
              </a:rPr>
              <a:t>under your direction — in-house or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solidFill>
                  <a:srgbClr val="C9CAD3"/>
                </a:solidFill>
                <a:latin typeface="Segoe UI"/>
              </a:rPr>
              <a:t>remote. Real ownership, not tickets.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605528" y="2240280"/>
            <a:ext cx="310896" cy="32004"/>
          </a:xfrm>
          <a:prstGeom prst="rect">
            <a:avLst/>
          </a:prstGeom>
          <a:solidFill>
            <a:srgbClr val="6A3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095488" y="2057400"/>
            <a:ext cx="3453384" cy="32004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37744" rIns="219456" bIns="182880" rtlCol="0" anchor="t"/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50" b="1" i="0" dirty="0">
                <a:solidFill>
                  <a:srgbClr val="F0C040"/>
                </a:solidFill>
                <a:latin typeface="Segoe UI"/>
              </a:rPr>
              <a:t>Flexible by Design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solidFill>
                  <a:srgbClr val="C9CAD3"/>
                </a:solidFill>
                <a:latin typeface="Segoe UI"/>
              </a:rPr>
              <a:t>Scale up when you grow, wind down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solidFill>
                  <a:srgbClr val="C9CAD3"/>
                </a:solidFill>
                <a:latin typeface="Segoe UI"/>
              </a:rPr>
              <a:t>when you don't. Add experts, pause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solidFill>
                  <a:srgbClr val="C9CAD3"/>
                </a:solidFill>
                <a:latin typeface="Segoe UI"/>
              </a:rPr>
              <a:t>anytime — no lock-ins.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33232" y="2240280"/>
            <a:ext cx="310896" cy="32004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28292"/>
                </a:solidFill>
                <a:latin typeface="Segoe UI"/>
              </a:rPr>
              <a:t>AnantaSutra   ·   anantasutra.com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28292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317"/>
                </a:solidFill>
                <a:latin typeface="Segoe UI"/>
              </a:rPr>
              <a:t>ANY DOMAIN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Whatever expertise you need.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572768"/>
            <a:ext cx="777240" cy="41148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2548890" cy="118872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59" y="2121408"/>
            <a:ext cx="237744" cy="27432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59" y="2212848"/>
            <a:ext cx="2219706" cy="469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 dirty="0">
                <a:solidFill>
                  <a:srgbClr val="FFFFFF"/>
                </a:solidFill>
                <a:latin typeface="Segoe UI"/>
              </a:rPr>
              <a:t>Engineering &amp; Software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dirty="0">
                <a:solidFill>
                  <a:srgbClr val="C9CAD3"/>
                </a:solidFill>
                <a:latin typeface="Segoe UI"/>
              </a:rPr>
              <a:t>Full-Stack · Backend · DevOps · </a:t>
            </a:r>
            <a:r>
              <a:rPr lang="en-US" sz="950" b="0" i="0" dirty="0" smtClean="0">
                <a:solidFill>
                  <a:srgbClr val="C9CAD3"/>
                </a:solidFill>
                <a:latin typeface="Segoe UI"/>
              </a:rPr>
              <a:t>Infra</a:t>
            </a:r>
            <a:endParaRPr sz="950" b="0" i="0" dirty="0">
              <a:solidFill>
                <a:srgbClr val="C9CAD3"/>
              </a:solidFill>
              <a:latin typeface="Segoe U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426714" y="1920240"/>
            <a:ext cx="2548890" cy="118872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09594" y="2121408"/>
            <a:ext cx="237744" cy="27432"/>
          </a:xfrm>
          <a:prstGeom prst="rect">
            <a:avLst/>
          </a:prstGeom>
          <a:solidFill>
            <a:srgbClr val="6A3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09594" y="2212848"/>
            <a:ext cx="221970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 dirty="0">
                <a:solidFill>
                  <a:srgbClr val="FFFFFF"/>
                </a:solidFill>
                <a:latin typeface="Segoe UI"/>
              </a:rPr>
              <a:t>AI &amp; Data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dirty="0">
                <a:solidFill>
                  <a:srgbClr val="C9CAD3"/>
                </a:solidFill>
                <a:latin typeface="Segoe UI"/>
              </a:rPr>
              <a:t>ML · Data Science · Automation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3348" y="1920240"/>
            <a:ext cx="2548890" cy="118872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96228" y="2121408"/>
            <a:ext cx="237744" cy="27432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96228" y="2212848"/>
            <a:ext cx="221970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 dirty="0">
                <a:solidFill>
                  <a:srgbClr val="FFFFFF"/>
                </a:solidFill>
                <a:latin typeface="Segoe UI"/>
              </a:rPr>
              <a:t>Design &amp; Creative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dirty="0">
                <a:solidFill>
                  <a:srgbClr val="C9CAD3"/>
                </a:solidFill>
                <a:latin typeface="Segoe UI"/>
              </a:rPr>
              <a:t>Product · Brand · UI/UX · Motion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9982" y="1920240"/>
            <a:ext cx="2548890" cy="118872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182862" y="2121408"/>
            <a:ext cx="237744" cy="27432"/>
          </a:xfrm>
          <a:prstGeom prst="rect">
            <a:avLst/>
          </a:prstGeom>
          <a:solidFill>
            <a:srgbClr val="6A3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82862" y="2212848"/>
            <a:ext cx="221970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Marketing &amp; Growth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C9CAD3"/>
                </a:solidFill>
                <a:latin typeface="Segoe UI"/>
              </a:rPr>
              <a:t>Performance · Growth · SEO · Social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218688"/>
            <a:ext cx="2548890" cy="118872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59" y="3419856"/>
            <a:ext cx="237744" cy="27432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59" y="3511296"/>
            <a:ext cx="221970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Video &amp; Content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C9CAD3"/>
                </a:solidFill>
                <a:latin typeface="Segoe UI"/>
              </a:rPr>
              <a:t>Editors · Writers · Producers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6714" y="3218688"/>
            <a:ext cx="2548890" cy="118872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09594" y="3419856"/>
            <a:ext cx="237744" cy="27432"/>
          </a:xfrm>
          <a:prstGeom prst="rect">
            <a:avLst/>
          </a:prstGeom>
          <a:solidFill>
            <a:srgbClr val="6A3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09594" y="3511296"/>
            <a:ext cx="221970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Legal &amp; Compliance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C9CAD3"/>
                </a:solidFill>
                <a:latin typeface="Segoe UI"/>
              </a:rPr>
              <a:t>Corporate · Immigration · Contracts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3348" y="3218688"/>
            <a:ext cx="2548890" cy="118872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96228" y="3419856"/>
            <a:ext cx="237744" cy="27432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96228" y="3511296"/>
            <a:ext cx="221970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Healthcare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C9CAD3"/>
                </a:solidFill>
                <a:latin typeface="Segoe UI"/>
              </a:rPr>
              <a:t>Clinical Advisory · Health Ops · Telehealth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99982" y="3218688"/>
            <a:ext cx="2548890" cy="118872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182862" y="3419856"/>
            <a:ext cx="237744" cy="27432"/>
          </a:xfrm>
          <a:prstGeom prst="rect">
            <a:avLst/>
          </a:prstGeom>
          <a:solidFill>
            <a:srgbClr val="6A3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82862" y="3511296"/>
            <a:ext cx="221970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Finance &amp;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C9CAD3"/>
                </a:solidFill>
                <a:latin typeface="Segoe UI"/>
              </a:rPr>
              <a:t>Analysts · FP&amp;A · Ops · Strategy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517136"/>
            <a:ext cx="2548890" cy="118872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22959" y="4718304"/>
            <a:ext cx="237744" cy="27432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2959" y="4809744"/>
            <a:ext cx="221970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Property &amp; Real Estate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C9CAD3"/>
                </a:solidFill>
                <a:latin typeface="Segoe UI"/>
              </a:rPr>
              <a:t>Sales · Funnels · Listings · CRM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26714" y="4517136"/>
            <a:ext cx="2548890" cy="118872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609594" y="4718304"/>
            <a:ext cx="237744" cy="27432"/>
          </a:xfrm>
          <a:prstGeom prst="rect">
            <a:avLst/>
          </a:prstGeom>
          <a:solidFill>
            <a:srgbClr val="6A3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609594" y="4809744"/>
            <a:ext cx="221970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E-commerce &amp; Retail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C9CAD3"/>
                </a:solidFill>
                <a:latin typeface="Segoe UI"/>
              </a:rPr>
              <a:t>Store Ops · Catalogue · CRO · Retention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3348" y="4517136"/>
            <a:ext cx="2548890" cy="118872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396228" y="4718304"/>
            <a:ext cx="237744" cy="27432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396228" y="4809744"/>
            <a:ext cx="221970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Immigration &amp; Mobility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C9CAD3"/>
                </a:solidFill>
                <a:latin typeface="Segoe UI"/>
              </a:rPr>
              <a:t>Case Mgmt · Visa · Documentation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99982" y="4517136"/>
            <a:ext cx="2548890" cy="118872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9182862" y="4718304"/>
            <a:ext cx="237744" cy="27432"/>
          </a:xfrm>
          <a:prstGeom prst="rect">
            <a:avLst/>
          </a:prstGeom>
          <a:solidFill>
            <a:srgbClr val="6A3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182862" y="4809744"/>
            <a:ext cx="221970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Academic &amp; Research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C9CAD3"/>
                </a:solidFill>
                <a:latin typeface="Segoe UI"/>
              </a:rPr>
              <a:t>Researchers · Subject Experts · Writers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85216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F0C040"/>
                </a:solidFill>
                <a:latin typeface="Segoe UI"/>
              </a:rPr>
              <a:t>If it's a profession, we can embed an expert in it. The domain can be anything.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28292"/>
                </a:solidFill>
                <a:latin typeface="Segoe UI"/>
              </a:rPr>
              <a:t>AnantaSutra   ·   anantasutra.com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0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28292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317"/>
                </a:solidFill>
                <a:latin typeface="Segoe U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 i="0" dirty="0">
                <a:solidFill>
                  <a:srgbClr val="FFFFFF"/>
                </a:solidFill>
                <a:latin typeface="Segoe UI"/>
              </a:rPr>
              <a:t>From need to </a:t>
            </a:r>
            <a:r>
              <a:rPr sz="3200" b="1" i="0" dirty="0" smtClean="0">
                <a:solidFill>
                  <a:srgbClr val="FFFFFF"/>
                </a:solidFill>
                <a:latin typeface="Segoe UI"/>
              </a:rPr>
              <a:t>on</a:t>
            </a:r>
            <a:r>
              <a:rPr lang="en-US" sz="3200" b="1" i="0" dirty="0" smtClean="0">
                <a:solidFill>
                  <a:srgbClr val="FFFFFF"/>
                </a:solidFill>
                <a:latin typeface="Segoe UI"/>
              </a:rPr>
              <a:t> </a:t>
            </a:r>
            <a:r>
              <a:rPr sz="3200" b="1" i="0" dirty="0" smtClean="0">
                <a:solidFill>
                  <a:srgbClr val="FFFFFF"/>
                </a:solidFill>
                <a:latin typeface="Segoe UI"/>
              </a:rPr>
              <a:t>boarded </a:t>
            </a:r>
            <a:r>
              <a:rPr sz="3200" b="1" i="0" dirty="0">
                <a:solidFill>
                  <a:srgbClr val="FFFFFF"/>
                </a:solidFill>
                <a:latin typeface="Segoe UI"/>
              </a:rPr>
              <a:t>in </a:t>
            </a:r>
            <a:r>
              <a:rPr lang="en-US" sz="3200" b="1" i="0" dirty="0" smtClean="0">
                <a:solidFill>
                  <a:srgbClr val="FFFFFF"/>
                </a:solidFill>
                <a:latin typeface="Segoe UI"/>
              </a:rPr>
              <a:t>14</a:t>
            </a:r>
            <a:r>
              <a:rPr sz="3200" b="1" i="0" dirty="0" smtClean="0">
                <a:solidFill>
                  <a:srgbClr val="FFFFFF"/>
                </a:solidFill>
                <a:latin typeface="Segoe UI"/>
              </a:rPr>
              <a:t> </a:t>
            </a:r>
            <a:r>
              <a:rPr sz="3200" b="1" i="0" dirty="0">
                <a:solidFill>
                  <a:srgbClr val="FFFFFF"/>
                </a:solidFill>
                <a:latin typeface="Segoe UI"/>
              </a:rPr>
              <a:t>days.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572768"/>
            <a:ext cx="777240" cy="41148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2521458" cy="32004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237744" rIns="201168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0C040"/>
                </a:solidFill>
                <a:latin typeface="Segoe UI"/>
              </a:rPr>
              <a:t>01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Tell us your need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9CAD3"/>
                </a:solidFill>
                <a:latin typeface="Segoe UI"/>
              </a:rPr>
              <a:t>A 30-minute call on your business, the role you need, and the outcomes you want.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5857" y="2057400"/>
            <a:ext cx="2521458" cy="32004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237744" rIns="201168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0C040"/>
                </a:solidFill>
                <a:latin typeface="Segoe UI"/>
              </a:rPr>
              <a:t>02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We match &amp; vet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9CAD3"/>
                </a:solidFill>
                <a:latin typeface="Segoe UI"/>
              </a:rPr>
              <a:t>We handpick 2–3 vetted pros from our network. You interview them and choose.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2057400"/>
            <a:ext cx="2521458" cy="32004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237744" rIns="201168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0C040"/>
                </a:solidFill>
                <a:latin typeface="Segoe UI"/>
              </a:rPr>
              <a:t>03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They join your team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9CAD3"/>
                </a:solidFill>
                <a:latin typeface="Segoe UI"/>
              </a:rPr>
              <a:t>Into your Slack, Notion and project tools — working as part of your team within 7 days.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27413" y="2057400"/>
            <a:ext cx="2521458" cy="32004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237744" rIns="201168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0C040"/>
                </a:solidFill>
                <a:latin typeface="Segoe UI"/>
              </a:rPr>
              <a:t>04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You stay focused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9CAD3"/>
                </a:solidFill>
                <a:latin typeface="Segoe UI"/>
              </a:rPr>
              <a:t>Weekly reviews, monthly reports, and one accountable point of contact.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28292"/>
                </a:solidFill>
                <a:latin typeface="Segoe UI"/>
              </a:rPr>
              <a:t>AnantaSutra   ·   anantasutra.com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28292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317"/>
                </a:solidFill>
                <a:latin typeface="Segoe UI"/>
              </a:rPr>
              <a:t>WHY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Built for founders who value 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572768"/>
            <a:ext cx="777240" cy="41148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453384" cy="16002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77824" y="2185415"/>
            <a:ext cx="274320" cy="32004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2295144"/>
            <a:ext cx="299618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Dedicated, not shared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9CAD3"/>
                </a:solidFill>
                <a:latin typeface="Segoe UI"/>
              </a:rPr>
              <a:t>Your expert works only on your business — never juggling five clients.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7784" y="1965960"/>
            <a:ext cx="3453384" cy="16002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605528" y="2185415"/>
            <a:ext cx="274320" cy="32004"/>
          </a:xfrm>
          <a:prstGeom prst="rect">
            <a:avLst/>
          </a:prstGeom>
          <a:solidFill>
            <a:srgbClr val="6A3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05528" y="2295144"/>
            <a:ext cx="299618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Ramp-up in 7 days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9CAD3"/>
                </a:solidFill>
                <a:latin typeface="Segoe UI"/>
              </a:rPr>
              <a:t>Skip the 3-month hiring cycle. Productive from week 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5488" y="1965960"/>
            <a:ext cx="3453384" cy="16002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333232" y="2185415"/>
            <a:ext cx="274320" cy="32004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33232" y="2295144"/>
            <a:ext cx="299618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Replace anytime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9CAD3"/>
                </a:solidFill>
                <a:latin typeface="Segoe UI"/>
              </a:rPr>
              <a:t>Wrong fit? We replace them within 48 hours. No long contracts.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3453384" cy="16002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77824" y="3922776"/>
            <a:ext cx="274320" cy="32004"/>
          </a:xfrm>
          <a:prstGeom prst="rect">
            <a:avLst/>
          </a:prstGeom>
          <a:solidFill>
            <a:srgbClr val="6A3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77824" y="4032504"/>
            <a:ext cx="299618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Scale on demand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9CAD3"/>
                </a:solidFill>
                <a:latin typeface="Segoe UI"/>
              </a:rPr>
              <a:t>Start with one expert. Add more as you grow. Pause when you don't.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7784" y="3703320"/>
            <a:ext cx="3453384" cy="16002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605528" y="3922776"/>
            <a:ext cx="274320" cy="32004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05528" y="4032504"/>
            <a:ext cx="299618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Backed by AnantaSutra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9CAD3"/>
                </a:solidFill>
                <a:latin typeface="Segoe UI"/>
              </a:rPr>
              <a:t>Every expert has our processes, tools and leadership behind them.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5488" y="3703320"/>
            <a:ext cx="3453384" cy="16002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333232" y="3922776"/>
            <a:ext cx="274320" cy="32004"/>
          </a:xfrm>
          <a:prstGeom prst="rect">
            <a:avLst/>
          </a:prstGeom>
          <a:solidFill>
            <a:srgbClr val="6A3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33232" y="4032504"/>
            <a:ext cx="299618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Partnership mindset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9CAD3"/>
                </a:solidFill>
                <a:latin typeface="Segoe UI"/>
              </a:rPr>
              <a:t>We grow when you grow — that's the whole reason this model exists.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28292"/>
                </a:solidFill>
                <a:latin typeface="Segoe UI"/>
              </a:rPr>
              <a:t>AnantaSutra   ·   anantasutra.com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28292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317"/>
                </a:solidFill>
                <a:latin typeface="Segoe UI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You pay just the salary.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572768"/>
            <a:ext cx="777240" cy="41148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3453384" cy="2788920"/>
          </a:xfrm>
          <a:prstGeom prst="roundRect">
            <a:avLst>
              <a:gd name="adj" fmla="val 5000"/>
            </a:avLst>
          </a:prstGeom>
          <a:solidFill>
            <a:srgbClr val="1B1612"/>
          </a:solidFill>
          <a:ln w="22225">
            <a:solidFill>
              <a:srgbClr val="E8A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74320" rtlCol="0" anchor="t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F0C040"/>
                </a:solidFill>
                <a:latin typeface="Segoe UI"/>
              </a:rPr>
              <a:t>What you pay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C9CAD3"/>
                </a:solidFill>
                <a:latin typeface="Segoe UI"/>
              </a:rPr>
              <a:t>The expert's monthly salary —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C9CAD3"/>
                </a:solidFill>
                <a:latin typeface="Segoe UI"/>
              </a:rPr>
              <a:t>exactly what they earn.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C9CAD3"/>
                </a:solidFill>
                <a:latin typeface="Segoe UI"/>
              </a:rPr>
              <a:t>That's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7784" y="2057400"/>
            <a:ext cx="3453384" cy="278892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74320" rtlCol="0" anchor="t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What you don't pay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C9CAD3"/>
                </a:solidFill>
                <a:latin typeface="Segoe UI"/>
              </a:rPr>
              <a:t>No agency markup (save 30–50%).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C9CAD3"/>
                </a:solidFill>
                <a:latin typeface="Segoe UI"/>
              </a:rPr>
              <a:t>No recruitment fees. No overheads.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C9CAD3"/>
                </a:solidFill>
                <a:latin typeface="Segoe UI"/>
              </a:rPr>
              <a:t>No hidden charges.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5488" y="2057400"/>
            <a:ext cx="3453384" cy="278892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74320" rtlCol="0" anchor="t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How we earn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C9CAD3"/>
                </a:solidFill>
                <a:latin typeface="Segoe UI"/>
              </a:rPr>
              <a:t>A small, transparent coordination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C9CAD3"/>
                </a:solidFill>
                <a:latin typeface="Segoe UI"/>
              </a:rPr>
              <a:t>fee — agreed upfront.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C9CAD3"/>
                </a:solidFill>
                <a:latin typeface="Segoe UI"/>
              </a:rPr>
              <a:t>You see every rupee.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6636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828292"/>
                </a:solidFill>
                <a:latin typeface="Segoe UI"/>
              </a:rPr>
              <a:t>Agencies charge ₹1.5L for someone earning ₹1L. We flipped it — you pay the salary, we earn a transparent fee, and you save lakhs every year.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28292"/>
                </a:solidFill>
                <a:latin typeface="Segoe UI"/>
              </a:rPr>
              <a:t>AnantaSutra   ·   anantasutra.com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28292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317"/>
                </a:solidFill>
                <a:latin typeface="Segoe UI"/>
              </a:rPr>
              <a:t>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Numbers that speak.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572768"/>
            <a:ext cx="777240" cy="41148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2521458" cy="13716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600" b="1" i="0">
                <a:solidFill>
                  <a:srgbClr val="E8A317"/>
                </a:solidFill>
                <a:latin typeface="Segoe UI"/>
              </a:rPr>
              <a:t>12+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9CAD3"/>
                </a:solidFill>
                <a:latin typeface="Segoe UI"/>
              </a:rPr>
              <a:t>Expert Domains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5857" y="2057400"/>
            <a:ext cx="2521458" cy="13716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600" b="1" i="0">
                <a:solidFill>
                  <a:srgbClr val="E8A317"/>
                </a:solidFill>
                <a:latin typeface="Segoe UI"/>
              </a:rPr>
              <a:t>10+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9CAD3"/>
                </a:solidFill>
                <a:latin typeface="Segoe UI"/>
              </a:rPr>
              <a:t>Brands Delivered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2057400"/>
            <a:ext cx="2521458" cy="13716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600" b="1" i="0">
                <a:solidFill>
                  <a:srgbClr val="E8A317"/>
                </a:solidFill>
                <a:latin typeface="Segoe U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9CAD3"/>
                </a:solidFill>
                <a:latin typeface="Segoe UI"/>
              </a:rPr>
              <a:t>Continents Served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27413" y="2057400"/>
            <a:ext cx="2521458" cy="13716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600" b="1" i="0">
                <a:solidFill>
                  <a:srgbClr val="E8A317"/>
                </a:solidFill>
                <a:latin typeface="Segoe UI"/>
              </a:rPr>
              <a:t>7-Day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9CAD3"/>
                </a:solidFill>
                <a:latin typeface="Segoe UI"/>
              </a:rPr>
              <a:t>Avg. Onboarding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57600"/>
            <a:ext cx="3453384" cy="13716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600" b="1" i="0">
                <a:solidFill>
                  <a:srgbClr val="6A3DE8"/>
                </a:solidFill>
                <a:latin typeface="Segoe UI"/>
              </a:rPr>
              <a:t>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9CAD3"/>
                </a:solidFill>
                <a:latin typeface="Segoe UI"/>
              </a:rPr>
              <a:t>Agency markup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7784" y="3657600"/>
            <a:ext cx="3453384" cy="13716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600" b="1" i="0">
                <a:solidFill>
                  <a:srgbClr val="6A3DE8"/>
                </a:solidFill>
                <a:latin typeface="Segoe UI"/>
              </a:rPr>
              <a:t>48h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9CAD3"/>
                </a:solidFill>
                <a:latin typeface="Segoe UI"/>
              </a:rPr>
              <a:t>Replacement guarantee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5488" y="3657600"/>
            <a:ext cx="3453384" cy="13716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600" b="1" i="0">
                <a:solidFill>
                  <a:srgbClr val="6A3DE8"/>
                </a:solidFill>
                <a:latin typeface="Segoe UI"/>
              </a:rPr>
              <a:t>100%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9CAD3"/>
                </a:solidFill>
                <a:latin typeface="Segoe UI"/>
              </a:rPr>
              <a:t>Dedicated to your business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C9CAD3"/>
                </a:solidFill>
                <a:latin typeface="Segoe UI"/>
              </a:rPr>
              <a:t>A vetted network spanning 12+ disciplines — embedded, accountable, and aligned to your outcomes.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28292"/>
                </a:solidFill>
                <a:latin typeface="Segoe UI"/>
              </a:rPr>
              <a:t>AnantaSutra   ·   anantasutra.com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28292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317"/>
                </a:solidFill>
                <a:latin typeface="Segoe UI"/>
              </a:rPr>
              <a:t>CLIENT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Real brands. Real outcomes.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572768"/>
            <a:ext cx="777240" cy="41148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2521458" cy="32004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19456" rIns="201168" bIns="164592" rtlCol="0" anchor="t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500" b="1" i="0">
                <a:solidFill>
                  <a:srgbClr val="E8A317"/>
                </a:solidFill>
                <a:latin typeface="Segoe UI"/>
              </a:rPr>
              <a:t>₹25L → ₹40L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Awish Clinic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AD3"/>
                </a:solidFill>
                <a:latin typeface="Segoe UI"/>
              </a:rPr>
              <a:t>Monthly revenue in 2 months — embedded web, CRM &amp; ads experts (Dermatology).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5857" y="2057400"/>
            <a:ext cx="2521458" cy="32004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19456" rIns="201168" bIns="164592" rtlCol="0" anchor="t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500" b="1" i="0">
                <a:solidFill>
                  <a:srgbClr val="6A3DE8"/>
                </a:solidFill>
                <a:latin typeface="Segoe UI"/>
              </a:rPr>
              <a:t>₹23L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BotWot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AD3"/>
                </a:solidFill>
                <a:latin typeface="Segoe UI"/>
              </a:rPr>
              <a:t>Average deal size closed across India, UAE &amp; Nigeria via an embedded marketing team.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2057400"/>
            <a:ext cx="2521458" cy="32004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19456" rIns="201168" bIns="164592" rtlCol="0" anchor="t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500" b="1" i="0" dirty="0">
                <a:solidFill>
                  <a:srgbClr val="E8A317"/>
                </a:solidFill>
                <a:latin typeface="Segoe UI"/>
              </a:rPr>
              <a:t>+46%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 dirty="0">
                <a:solidFill>
                  <a:srgbClr val="FFFFFF"/>
                </a:solidFill>
                <a:latin typeface="Segoe UI"/>
              </a:rPr>
              <a:t>Zoom Wheels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 dirty="0">
                <a:solidFill>
                  <a:srgbClr val="C9CAD3"/>
                </a:solidFill>
                <a:latin typeface="Segoe UI"/>
              </a:rPr>
              <a:t>Revenue growth driven by a dedicated ads expert (Automotive, Delhi).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27413" y="2057400"/>
            <a:ext cx="2521458" cy="32004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19456" rIns="201168" bIns="164592" rtlCol="0" anchor="t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500" b="1" i="0">
                <a:solidFill>
                  <a:srgbClr val="6A3DE8"/>
                </a:solidFill>
                <a:latin typeface="Segoe UI"/>
              </a:rPr>
              <a:t>+38%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Royal Properties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AD3"/>
                </a:solidFill>
                <a:latin typeface="Segoe UI"/>
              </a:rPr>
              <a:t>Traffic lift from embedded funnel &amp; landing-page experts (Real Estate).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28292"/>
                </a:solidFill>
                <a:latin typeface="Segoe UI"/>
              </a:rPr>
              <a:t>AnantaSutra   ·   anantasutra.com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28292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317"/>
                </a:solidFill>
                <a:latin typeface="Segoe UI"/>
              </a:rPr>
              <a:t>TRUSTED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Across industries and continents.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572768"/>
            <a:ext cx="777240" cy="41148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976932" cy="18288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86384" y="2157984"/>
            <a:ext cx="1684324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wish-cli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4226" y="2276856"/>
            <a:ext cx="548640" cy="5486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86384" y="3090672"/>
            <a:ext cx="219456" cy="27432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3145536"/>
            <a:ext cx="17209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Awish Clinic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9CAD3"/>
                </a:solidFill>
                <a:latin typeface="Segoe UI"/>
              </a:rPr>
              <a:t>Dermatology · India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3044" y="2011680"/>
            <a:ext cx="1976932" cy="18288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019348" y="2157984"/>
            <a:ext cx="1684324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education-aspi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7191" y="2276856"/>
            <a:ext cx="548640" cy="54864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3019348" y="3090672"/>
            <a:ext cx="219456" cy="27432"/>
          </a:xfrm>
          <a:prstGeom prst="rect">
            <a:avLst/>
          </a:prstGeom>
          <a:solidFill>
            <a:srgbClr val="6A3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19348" y="3145536"/>
            <a:ext cx="17209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Education Aspire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9CAD3"/>
                </a:solidFill>
                <a:latin typeface="Segoe UI"/>
              </a:rPr>
              <a:t>EdTech · Faridabad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06009" y="2011680"/>
            <a:ext cx="1976932" cy="18288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252313" y="2157984"/>
            <a:ext cx="1684324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giant-migra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0156" y="2276856"/>
            <a:ext cx="548640" cy="54864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5252313" y="3090672"/>
            <a:ext cx="219456" cy="27432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252313" y="3145536"/>
            <a:ext cx="17209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Giant Migrations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9CAD3"/>
                </a:solidFill>
                <a:latin typeface="Segoe UI"/>
              </a:rPr>
              <a:t>Immigration · Qatar·UAE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38974" y="2011680"/>
            <a:ext cx="1976932" cy="18288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485278" y="2157984"/>
            <a:ext cx="1684324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botw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3120" y="2276856"/>
            <a:ext cx="548640" cy="54864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7485278" y="3090672"/>
            <a:ext cx="219456" cy="27432"/>
          </a:xfrm>
          <a:prstGeom prst="rect">
            <a:avLst/>
          </a:prstGeom>
          <a:solidFill>
            <a:srgbClr val="6A3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85278" y="3145536"/>
            <a:ext cx="17209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BotWot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9CAD3"/>
                </a:solidFill>
                <a:latin typeface="Segoe UI"/>
              </a:rPr>
              <a:t>AI · India·UAE·Nigeria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71939" y="2011680"/>
            <a:ext cx="1976932" cy="18288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718243" y="2157984"/>
            <a:ext cx="1684324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zoom-wheel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6085" y="2276856"/>
            <a:ext cx="548640" cy="54864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9718243" y="3090672"/>
            <a:ext cx="219456" cy="27432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718243" y="3145536"/>
            <a:ext cx="17209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Zoom Wheels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9CAD3"/>
                </a:solidFill>
                <a:latin typeface="Segoe UI"/>
              </a:rPr>
              <a:t>Automotive · Delhi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3977639"/>
            <a:ext cx="1976932" cy="18288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786384" y="4123944"/>
            <a:ext cx="1684324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royal-propert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4226" y="4242816"/>
            <a:ext cx="548640" cy="54864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786384" y="5056631"/>
            <a:ext cx="219456" cy="27432"/>
          </a:xfrm>
          <a:prstGeom prst="rect">
            <a:avLst/>
          </a:prstGeom>
          <a:solidFill>
            <a:srgbClr val="6A3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86384" y="5111496"/>
            <a:ext cx="17209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Royal Properties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9CAD3"/>
                </a:solidFill>
                <a:latin typeface="Segoe UI"/>
              </a:rPr>
              <a:t>Real Estate · Delhi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873044" y="3977639"/>
            <a:ext cx="1976932" cy="18288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3019348" y="4123944"/>
            <a:ext cx="1684324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bluemoon-marketin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87191" y="4242816"/>
            <a:ext cx="548640" cy="54864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3019348" y="5056631"/>
            <a:ext cx="219456" cy="27432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019348" y="5111496"/>
            <a:ext cx="17209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BlueMoon Marketing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9CAD3"/>
                </a:solidFill>
                <a:latin typeface="Segoe UI"/>
              </a:rPr>
              <a:t>Advertising · Delhi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106009" y="3977639"/>
            <a:ext cx="1976932" cy="18288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5252313" y="4123944"/>
            <a:ext cx="1684324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smile-with-kri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20156" y="4242816"/>
            <a:ext cx="548640" cy="548640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5252313" y="5056631"/>
            <a:ext cx="219456" cy="27432"/>
          </a:xfrm>
          <a:prstGeom prst="rect">
            <a:avLst/>
          </a:prstGeom>
          <a:solidFill>
            <a:srgbClr val="6A3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252313" y="5111496"/>
            <a:ext cx="17209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Smile With Kris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9CAD3"/>
                </a:solidFill>
                <a:latin typeface="Segoe UI"/>
              </a:rPr>
              <a:t>Dental · UK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38974" y="3977639"/>
            <a:ext cx="1976932" cy="18288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485278" y="4123944"/>
            <a:ext cx="1684324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walk-through-my-le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53120" y="4242816"/>
            <a:ext cx="548640" cy="548640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7485278" y="5056631"/>
            <a:ext cx="219456" cy="27432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85278" y="5111496"/>
            <a:ext cx="17209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Walk Through My Lens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9CAD3"/>
                </a:solidFill>
                <a:latin typeface="Segoe UI"/>
              </a:rPr>
              <a:t>Travel · London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571939" y="3977639"/>
            <a:ext cx="1976932" cy="1828800"/>
          </a:xfrm>
          <a:prstGeom prst="roundRect">
            <a:avLst>
              <a:gd name="adj" fmla="val 5000"/>
            </a:avLst>
          </a:prstGeom>
          <a:solidFill>
            <a:srgbClr val="161620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9718243" y="4123944"/>
            <a:ext cx="1684324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3" name="Picture 52" descr="wisdom-of-min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37115" y="4408642"/>
            <a:ext cx="1446580" cy="216987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9718243" y="5056631"/>
            <a:ext cx="219456" cy="27432"/>
          </a:xfrm>
          <a:prstGeom prst="rect">
            <a:avLst/>
          </a:prstGeom>
          <a:solidFill>
            <a:srgbClr val="6A3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718243" y="5111496"/>
            <a:ext cx="17209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Wisdom of Mind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9CAD3"/>
                </a:solidFill>
                <a:latin typeface="Segoe UI"/>
              </a:rPr>
              <a:t>Vedic &amp; Wellness · Haryana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28292"/>
                </a:solidFill>
                <a:latin typeface="Segoe UI"/>
              </a:rPr>
              <a:t>AnantaSutra   ·   anantasutra.com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81360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28292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317"/>
                </a:solidFill>
                <a:latin typeface="Segoe UI"/>
              </a:rPr>
              <a:t>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Backed by a technologist-entrepreneur.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572768"/>
            <a:ext cx="777240" cy="41148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_portrait_s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2651760" cy="2651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2103120"/>
            <a:ext cx="2651760" cy="265176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E8A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749039" y="2148840"/>
            <a:ext cx="7772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 i="0" dirty="0">
                <a:solidFill>
                  <a:srgbClr val="FFFFFF"/>
                </a:solidFill>
                <a:latin typeface="Segoe UI"/>
              </a:rPr>
              <a:t>Bhavya Duneja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00" b="1" i="0" dirty="0">
                <a:solidFill>
                  <a:srgbClr val="E8A317"/>
                </a:solidFill>
                <a:latin typeface="Segoe UI"/>
              </a:rPr>
              <a:t>Co-founder, </a:t>
            </a:r>
            <a:r>
              <a:rPr sz="1400" b="1" i="0" dirty="0" err="1">
                <a:solidFill>
                  <a:srgbClr val="E8A317"/>
                </a:solidFill>
                <a:latin typeface="Segoe UI"/>
              </a:rPr>
              <a:t>AnantaSutra</a:t>
            </a:r>
            <a:endParaRPr sz="1400" b="1" i="0" dirty="0">
              <a:solidFill>
                <a:srgbClr val="E8A317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00" b="0" i="0" dirty="0">
                <a:solidFill>
                  <a:srgbClr val="C9CAD3"/>
                </a:solidFill>
                <a:latin typeface="Segoe UI"/>
              </a:rPr>
              <a:t>A software engineer and entrepreneur (.NET, React, AWS, Azure) bridging Delhi and Osaka, Japan. Bhavya leads a vetted network of professionals across 12+ domains — every expert backed by </a:t>
            </a:r>
            <a:r>
              <a:rPr sz="1400" b="0" i="0" dirty="0" err="1">
                <a:solidFill>
                  <a:srgbClr val="C9CAD3"/>
                </a:solidFill>
                <a:latin typeface="Segoe UI"/>
              </a:rPr>
              <a:t>AnantaSutra's</a:t>
            </a:r>
            <a:r>
              <a:rPr sz="1400" b="0" i="0" dirty="0">
                <a:solidFill>
                  <a:srgbClr val="C9CAD3"/>
                </a:solidFill>
                <a:latin typeface="Segoe UI"/>
              </a:rPr>
              <a:t> processes, tools and hands-on leadership.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 dirty="0">
                <a:solidFill>
                  <a:srgbClr val="F0C040"/>
                </a:solidFill>
                <a:latin typeface="Segoe UI"/>
              </a:rPr>
              <a:t>We grow when our clients grow — that's the whole reason this model exists.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28292"/>
                </a:solidFill>
                <a:latin typeface="Segoe UI"/>
              </a:rPr>
              <a:t>AnantaSutra   ·   anantasutra.com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28292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3621024" y="640079"/>
            <a:ext cx="4937760" cy="4937760"/>
          </a:xfrm>
          <a:prstGeom prst="ellipse">
            <a:avLst/>
          </a:prstGeom>
          <a:noFill/>
          <a:ln w="13970">
            <a:solidFill>
              <a:srgbClr val="E8A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4215384" y="1234440"/>
            <a:ext cx="3749039" cy="3749039"/>
          </a:xfrm>
          <a:prstGeom prst="ellipse">
            <a:avLst/>
          </a:prstGeom>
          <a:noFill/>
          <a:ln w="13970">
            <a:solidFill>
              <a:srgbClr val="6A3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809744" y="1828800"/>
            <a:ext cx="2560320" cy="2560320"/>
          </a:xfrm>
          <a:prstGeom prst="ellipse">
            <a:avLst/>
          </a:prstGeom>
          <a:noFill/>
          <a:ln w="13970">
            <a:solidFill>
              <a:srgbClr val="E8A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A317"/>
                </a:solidFill>
                <a:latin typeface="Segoe UI"/>
              </a:rPr>
              <a:t>STOP JUGGLING. START GROWING.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Get your expert in 7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0896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C9CAD3"/>
                </a:solidFill>
                <a:latin typeface="Segoe UI"/>
              </a:rPr>
              <a:t>Tell us the role you need — we'll introduce your dedicated expert within a week. Free consultation, zero commitment.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98848" y="4023360"/>
            <a:ext cx="3200400" cy="640080"/>
          </a:xfrm>
          <a:prstGeom prst="roundRect">
            <a:avLst>
              <a:gd name="adj" fmla="val 5000"/>
            </a:avLst>
          </a:prstGeom>
          <a:solidFill>
            <a:srgbClr val="E8A317"/>
          </a:solidFill>
          <a:ln w="9525">
            <a:solidFill>
              <a:srgbClr val="E8A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A0A0F"/>
                </a:solidFill>
                <a:latin typeface="Segoe UI"/>
              </a:rPr>
              <a:t>contact@anantasutra.com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9CAD3"/>
                </a:solidFill>
                <a:latin typeface="Segoe UI"/>
              </a:rPr>
              <a:t>anantasutra.com    ·    Delhi, India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4864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828292"/>
                </a:solidFill>
                <a:latin typeface="Segoe UI"/>
              </a:rPr>
              <a:t>Bhavya Duneja — Co-founder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1096</Words>
  <Application>Microsoft Office PowerPoint</Application>
  <PresentationFormat>ワイド画面</PresentationFormat>
  <Paragraphs>197</Paragraphs>
  <Slides>13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Arial</vt:lpstr>
      <vt:lpstr>Calibri</vt:lpstr>
      <vt:lpstr>Segoe UI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/>
  <cp:keywords/>
  <dc:description>generated using python-pptx</dc:description>
  <cp:lastModifiedBy>Duneja Bhavya</cp:lastModifiedBy>
  <cp:revision>5</cp:revision>
  <dcterms:created xsi:type="dcterms:W3CDTF">2013-01-27T09:14:16Z</dcterms:created>
  <dcterms:modified xsi:type="dcterms:W3CDTF">2026-07-03T02:24:10Z</dcterms:modified>
  <cp:category/>
</cp:coreProperties>
</file>