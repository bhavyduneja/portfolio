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040879" y="1143000"/>
            <a:ext cx="4572000" cy="4572000"/>
          </a:xfrm>
          <a:prstGeom prst="ellipse">
            <a:avLst/>
          </a:prstGeom>
          <a:noFill/>
          <a:ln w="1397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43800" y="1645920"/>
            <a:ext cx="3566160" cy="3566160"/>
          </a:xfrm>
          <a:prstGeom prst="ellipse">
            <a:avLst/>
          </a:prstGeom>
          <a:noFill/>
          <a:ln w="13970">
            <a:solidFill>
              <a:srgbClr val="6A3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046719" y="2148840"/>
            <a:ext cx="2560320" cy="2560320"/>
          </a:xfrm>
          <a:prstGeom prst="ellipse">
            <a:avLst/>
          </a:prstGeom>
          <a:noFill/>
          <a:ln w="1397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49640" y="2651760"/>
            <a:ext cx="1554480" cy="1554480"/>
          </a:xfrm>
          <a:prstGeom prst="ellipse">
            <a:avLst/>
          </a:prstGeom>
          <a:noFill/>
          <a:ln w="13970">
            <a:solidFill>
              <a:srgbClr val="6A3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17320"/>
            <a:ext cx="7772400" cy="365760"/>
          </a:xfrm>
          <a:prstGeom prst="rect">
            <a:avLst/>
          </a:prstGeom>
          <a:noFill/>
        </p:spPr>
        <p:txBody>
          <a:bodyPr wrap="square">
            <a:spAutoFit/>
          </a:bodyPr>
          <a:lstStyle/>
          <a:p>
            <a:pPr algn="l">
              <a:spcBef>
                <a:spcPts val="0"/>
              </a:spcBef>
              <a:spcAft>
                <a:spcPts val="400"/>
              </a:spcAft>
            </a:pPr>
            <a:r>
              <a:rPr sz="1400" b="1" i="0">
                <a:solidFill>
                  <a:srgbClr val="E8A317"/>
                </a:solidFill>
                <a:latin typeface="Segoe UI"/>
              </a:rPr>
              <a:t>ANANTASUTRA  ×  WONDER GIFTS</a:t>
            </a:r>
          </a:p>
        </p:txBody>
      </p:sp>
      <p:sp>
        <p:nvSpPr>
          <p:cNvPr id="8" name="TextBox 7"/>
          <p:cNvSpPr txBox="1"/>
          <p:nvPr/>
        </p:nvSpPr>
        <p:spPr>
          <a:xfrm>
            <a:off x="786384" y="1783080"/>
            <a:ext cx="7863840" cy="1097280"/>
          </a:xfrm>
          <a:prstGeom prst="rect">
            <a:avLst/>
          </a:prstGeom>
          <a:noFill/>
        </p:spPr>
        <p:txBody>
          <a:bodyPr wrap="square">
            <a:spAutoFit/>
          </a:bodyPr>
          <a:lstStyle/>
          <a:p>
            <a:pPr algn="l">
              <a:spcBef>
                <a:spcPts val="0"/>
              </a:spcBef>
              <a:spcAft>
                <a:spcPts val="400"/>
              </a:spcAft>
            </a:pPr>
            <a:r>
              <a:rPr sz="4600" b="1" i="0">
                <a:solidFill>
                  <a:srgbClr val="FFFFFF"/>
                </a:solidFill>
                <a:latin typeface="Segoe UI"/>
              </a:rPr>
              <a:t>Your India Growth Partner</a:t>
            </a:r>
          </a:p>
        </p:txBody>
      </p:sp>
      <p:sp>
        <p:nvSpPr>
          <p:cNvPr id="9" name="Rectangle 8"/>
          <p:cNvSpPr/>
          <p:nvPr/>
        </p:nvSpPr>
        <p:spPr>
          <a:xfrm>
            <a:off x="841248" y="2743200"/>
            <a:ext cx="1005840" cy="457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7132320" cy="548640"/>
          </a:xfrm>
          <a:prstGeom prst="rect">
            <a:avLst/>
          </a:prstGeom>
          <a:noFill/>
        </p:spPr>
        <p:txBody>
          <a:bodyPr wrap="square">
            <a:spAutoFit/>
          </a:bodyPr>
          <a:lstStyle/>
          <a:p>
            <a:pPr algn="l">
              <a:spcBef>
                <a:spcPts val="0"/>
              </a:spcBef>
              <a:spcAft>
                <a:spcPts val="400"/>
              </a:spcAft>
            </a:pPr>
            <a:r>
              <a:rPr sz="1900" b="1" i="0">
                <a:solidFill>
                  <a:srgbClr val="F0C040"/>
                </a:solidFill>
                <a:latin typeface="Segoe UI"/>
              </a:rPr>
              <a:t>Requirements discovery  ·  Our process  ·  The road ahead</a:t>
            </a:r>
          </a:p>
        </p:txBody>
      </p:sp>
      <p:sp>
        <p:nvSpPr>
          <p:cNvPr id="11" name="TextBox 10"/>
          <p:cNvSpPr txBox="1"/>
          <p:nvPr/>
        </p:nvSpPr>
        <p:spPr>
          <a:xfrm>
            <a:off x="822960" y="3611880"/>
            <a:ext cx="6766560" cy="914400"/>
          </a:xfrm>
          <a:prstGeom prst="rect">
            <a:avLst/>
          </a:prstGeom>
          <a:noFill/>
        </p:spPr>
        <p:txBody>
          <a:bodyPr wrap="square">
            <a:spAutoFit/>
          </a:bodyPr>
          <a:lstStyle/>
          <a:p>
            <a:pPr algn="l">
              <a:spcBef>
                <a:spcPts val="0"/>
              </a:spcBef>
              <a:spcAft>
                <a:spcPts val="400"/>
              </a:spcAft>
            </a:pPr>
            <a:r>
              <a:rPr sz="1400" b="0" i="0">
                <a:solidFill>
                  <a:srgbClr val="C9CAD3"/>
                </a:solidFill>
                <a:latin typeface="Segoe UI"/>
              </a:rPr>
              <a:t>Bringing Dubai's premium experiential gifting to India's affluent buyers and corporates — with an accountable team on the ground.</a:t>
            </a:r>
          </a:p>
        </p:txBody>
      </p:sp>
      <p:sp>
        <p:nvSpPr>
          <p:cNvPr id="12" name="TextBox 11"/>
          <p:cNvSpPr txBox="1"/>
          <p:nvPr/>
        </p:nvSpPr>
        <p:spPr>
          <a:xfrm>
            <a:off x="822960" y="5623560"/>
            <a:ext cx="7772400" cy="365760"/>
          </a:xfrm>
          <a:prstGeom prst="rect">
            <a:avLst/>
          </a:prstGeom>
          <a:noFill/>
        </p:spPr>
        <p:txBody>
          <a:bodyPr wrap="square">
            <a:spAutoFit/>
          </a:bodyPr>
          <a:lstStyle/>
          <a:p>
            <a:pPr algn="l">
              <a:spcBef>
                <a:spcPts val="0"/>
              </a:spcBef>
              <a:spcAft>
                <a:spcPts val="400"/>
              </a:spcAft>
            </a:pPr>
            <a:r>
              <a:rPr sz="1250" b="1" i="0">
                <a:solidFill>
                  <a:srgbClr val="FFFFFF"/>
                </a:solidFill>
                <a:latin typeface="Segoe UI"/>
              </a:rPr>
              <a:t>14 July 2026   ·   Maria El Fassi &amp; team, Wonder Gifts</a:t>
            </a:r>
          </a:p>
        </p:txBody>
      </p:sp>
      <p:sp>
        <p:nvSpPr>
          <p:cNvPr id="13" name="TextBox 12"/>
          <p:cNvSpPr txBox="1"/>
          <p:nvPr/>
        </p:nvSpPr>
        <p:spPr>
          <a:xfrm>
            <a:off x="822960" y="5989320"/>
            <a:ext cx="7772400" cy="365760"/>
          </a:xfrm>
          <a:prstGeom prst="rect">
            <a:avLst/>
          </a:prstGeom>
          <a:noFill/>
        </p:spPr>
        <p:txBody>
          <a:bodyPr wrap="square">
            <a:spAutoFit/>
          </a:bodyPr>
          <a:lstStyle/>
          <a:p>
            <a:pPr algn="l">
              <a:spcBef>
                <a:spcPts val="0"/>
              </a:spcBef>
              <a:spcAft>
                <a:spcPts val="400"/>
              </a:spcAft>
            </a:pPr>
            <a:r>
              <a:rPr sz="1200" b="0" i="0">
                <a:solidFill>
                  <a:srgbClr val="E8A317"/>
                </a:solidFill>
                <a:latin typeface="Segoe UI"/>
              </a:rPr>
              <a:t>Bhavya Duneja — Co-founder   ·   contact@anantasutra.com   ·   anantasutra.com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320040"/>
          </a:xfrm>
          <a:prstGeom prst="rect">
            <a:avLst/>
          </a:prstGeom>
          <a:noFill/>
        </p:spPr>
        <p:txBody>
          <a:bodyPr wrap="square">
            <a:spAutoFit/>
          </a:bodyPr>
          <a:lstStyle/>
          <a:p>
            <a:pPr algn="l">
              <a:spcBef>
                <a:spcPts val="0"/>
              </a:spcBef>
              <a:spcAft>
                <a:spcPts val="400"/>
              </a:spcAft>
            </a:pPr>
            <a:r>
              <a:rPr sz="1200" b="1" i="0">
                <a:solidFill>
                  <a:srgbClr val="E8A317"/>
                </a:solidFill>
                <a:latin typeface="Segoe UI"/>
              </a:rPr>
              <a:t>TODAY</a:t>
            </a:r>
          </a:p>
        </p:txBody>
      </p:sp>
      <p:sp>
        <p:nvSpPr>
          <p:cNvPr id="4" name="TextBox 3"/>
          <p:cNvSpPr txBox="1"/>
          <p:nvPr/>
        </p:nvSpPr>
        <p:spPr>
          <a:xfrm>
            <a:off x="640080" y="749808"/>
            <a:ext cx="11155680" cy="914400"/>
          </a:xfrm>
          <a:prstGeom prst="rect">
            <a:avLst/>
          </a:prstGeom>
          <a:noFill/>
        </p:spPr>
        <p:txBody>
          <a:bodyPr wrap="square">
            <a:spAutoFit/>
          </a:bodyPr>
          <a:lstStyle/>
          <a:p>
            <a:pPr algn="l">
              <a:spcBef>
                <a:spcPts val="0"/>
              </a:spcBef>
              <a:spcAft>
                <a:spcPts val="400"/>
              </a:spcAft>
            </a:pPr>
            <a:r>
              <a:rPr sz="3200" b="1" i="0">
                <a:solidFill>
                  <a:srgbClr val="FFFFFF"/>
                </a:solidFill>
                <a:latin typeface="Segoe UI"/>
              </a:rPr>
              <a:t>One goal today: understand you completely.</a:t>
            </a:r>
          </a:p>
        </p:txBody>
      </p:sp>
      <p:sp>
        <p:nvSpPr>
          <p:cNvPr id="5" name="Rectangle 4"/>
          <p:cNvSpPr/>
          <p:nvPr/>
        </p:nvSpPr>
        <p:spPr>
          <a:xfrm>
            <a:off x="667512" y="1572768"/>
            <a:ext cx="777240" cy="411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57400"/>
            <a:ext cx="3453384"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50" b="1" i="0">
                <a:solidFill>
                  <a:srgbClr val="FFFFFF"/>
                </a:solidFill>
                <a:latin typeface="Segoe UI"/>
              </a:rPr>
              <a:t>01 · Listen</a:t>
            </a:r>
          </a:p>
          <a:p>
            <a:pPr algn="l">
              <a:spcBef>
                <a:spcPts val="0"/>
              </a:spcBef>
              <a:spcAft>
                <a:spcPts val="300"/>
              </a:spcAft>
            </a:pPr>
            <a:r>
              <a:rPr sz="1150" b="0" i="0">
                <a:solidFill>
                  <a:srgbClr val="C9CAD3"/>
                </a:solidFill>
                <a:latin typeface="Segoe UI"/>
              </a:rPr>
              <a:t>Your India launch priorities, target</a:t>
            </a:r>
          </a:p>
          <a:p>
            <a:pPr algn="l">
              <a:spcBef>
                <a:spcPts val="0"/>
              </a:spcBef>
              <a:spcAft>
                <a:spcPts val="300"/>
              </a:spcAft>
            </a:pPr>
            <a:r>
              <a:rPr sz="1150" b="0" i="0">
                <a:solidFill>
                  <a:srgbClr val="C9CAD3"/>
                </a:solidFill>
                <a:latin typeface="Segoe UI"/>
              </a:rPr>
              <a:t>cities and segments, current setup,</a:t>
            </a:r>
          </a:p>
          <a:p>
            <a:pPr algn="l">
              <a:spcBef>
                <a:spcPts val="0"/>
              </a:spcBef>
              <a:spcAft>
                <a:spcPts val="300"/>
              </a:spcAft>
            </a:pPr>
            <a:r>
              <a:rPr sz="1150" b="0" i="0">
                <a:solidFill>
                  <a:srgbClr val="C9CAD3"/>
                </a:solidFill>
                <a:latin typeface="Segoe UI"/>
              </a:rPr>
              <a:t>and what success looks like in 90 days.</a:t>
            </a:r>
          </a:p>
        </p:txBody>
      </p:sp>
      <p:sp>
        <p:nvSpPr>
          <p:cNvPr id="7" name="Rectangle 6"/>
          <p:cNvSpPr/>
          <p:nvPr/>
        </p:nvSpPr>
        <p:spPr>
          <a:xfrm>
            <a:off x="877824" y="2240280"/>
            <a:ext cx="310896" cy="3200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67784" y="2057400"/>
            <a:ext cx="3453384"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50" b="1" i="0">
                <a:solidFill>
                  <a:srgbClr val="FFFFFF"/>
                </a:solidFill>
                <a:latin typeface="Segoe UI"/>
              </a:rPr>
              <a:t>02 · Explain our process</a:t>
            </a:r>
          </a:p>
          <a:p>
            <a:pPr algn="l">
              <a:spcBef>
                <a:spcPts val="0"/>
              </a:spcBef>
              <a:spcAft>
                <a:spcPts val="300"/>
              </a:spcAft>
            </a:pPr>
            <a:r>
              <a:rPr sz="1150" b="0" i="0">
                <a:solidFill>
                  <a:srgbClr val="C9CAD3"/>
                </a:solidFill>
                <a:latin typeface="Segoe UI"/>
              </a:rPr>
              <a:t>How we work end-to-end — from NDA</a:t>
            </a:r>
          </a:p>
          <a:p>
            <a:pPr algn="l">
              <a:spcBef>
                <a:spcPts val="0"/>
              </a:spcBef>
              <a:spcAft>
                <a:spcPts val="300"/>
              </a:spcAft>
            </a:pPr>
            <a:r>
              <a:rPr sz="1150" b="0" i="0">
                <a:solidFill>
                  <a:srgbClr val="C9CAD3"/>
                </a:solidFill>
                <a:latin typeface="Segoe UI"/>
              </a:rPr>
              <a:t>and proposal to execution, coordination</a:t>
            </a:r>
          </a:p>
          <a:p>
            <a:pPr algn="l">
              <a:spcBef>
                <a:spcPts val="0"/>
              </a:spcBef>
              <a:spcAft>
                <a:spcPts val="300"/>
              </a:spcAft>
            </a:pPr>
            <a:r>
              <a:rPr sz="1150" b="0" i="0">
                <a:solidFill>
                  <a:srgbClr val="C9CAD3"/>
                </a:solidFill>
                <a:latin typeface="Segoe UI"/>
              </a:rPr>
              <a:t>and our timeline guarantee.</a:t>
            </a:r>
          </a:p>
        </p:txBody>
      </p:sp>
      <p:sp>
        <p:nvSpPr>
          <p:cNvPr id="9" name="Rectangle 8"/>
          <p:cNvSpPr/>
          <p:nvPr/>
        </p:nvSpPr>
        <p:spPr>
          <a:xfrm>
            <a:off x="4605528" y="2240280"/>
            <a:ext cx="310896" cy="32004"/>
          </a:xfrm>
          <a:prstGeom prst="rect">
            <a:avLst/>
          </a:prstGeom>
          <a:solidFill>
            <a:srgbClr val="6A3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5488" y="2057400"/>
            <a:ext cx="3453384"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50" b="1" i="0">
                <a:solidFill>
                  <a:srgbClr val="FFFFFF"/>
                </a:solidFill>
                <a:latin typeface="Segoe UI"/>
              </a:rPr>
              <a:t>03 · Align next steps</a:t>
            </a:r>
          </a:p>
          <a:p>
            <a:pPr algn="l">
              <a:spcBef>
                <a:spcPts val="0"/>
              </a:spcBef>
              <a:spcAft>
                <a:spcPts val="300"/>
              </a:spcAft>
            </a:pPr>
            <a:r>
              <a:rPr sz="1150" b="0" i="0">
                <a:solidFill>
                  <a:srgbClr val="C9CAD3"/>
                </a:solidFill>
                <a:latin typeface="Segoe UI"/>
              </a:rPr>
              <a:t>Agree what happens right after this</a:t>
            </a:r>
          </a:p>
          <a:p>
            <a:pPr algn="l">
              <a:spcBef>
                <a:spcPts val="0"/>
              </a:spcBef>
              <a:spcAft>
                <a:spcPts val="300"/>
              </a:spcAft>
            </a:pPr>
            <a:r>
              <a:rPr sz="1150" b="0" i="0">
                <a:solidFill>
                  <a:srgbClr val="C9CAD3"/>
                </a:solidFill>
                <a:latin typeface="Segoe UI"/>
              </a:rPr>
              <a:t>call — so momentum never drops</a:t>
            </a:r>
          </a:p>
          <a:p>
            <a:pPr algn="l">
              <a:spcBef>
                <a:spcPts val="0"/>
              </a:spcBef>
              <a:spcAft>
                <a:spcPts val="300"/>
              </a:spcAft>
            </a:pPr>
            <a:r>
              <a:rPr sz="1150" b="0" i="0">
                <a:solidFill>
                  <a:srgbClr val="C9CAD3"/>
                </a:solidFill>
                <a:latin typeface="Segoe UI"/>
              </a:rPr>
              <a:t>while the launch window is open.</a:t>
            </a:r>
          </a:p>
        </p:txBody>
      </p:sp>
      <p:sp>
        <p:nvSpPr>
          <p:cNvPr id="11" name="Rectangle 10"/>
          <p:cNvSpPr/>
          <p:nvPr/>
        </p:nvSpPr>
        <p:spPr>
          <a:xfrm>
            <a:off x="8333232" y="2240280"/>
            <a:ext cx="310896" cy="3200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349240"/>
            <a:ext cx="10908792" cy="457200"/>
          </a:xfrm>
          <a:prstGeom prst="rect">
            <a:avLst/>
          </a:prstGeom>
          <a:noFill/>
        </p:spPr>
        <p:txBody>
          <a:bodyPr wrap="square">
            <a:spAutoFit/>
          </a:bodyPr>
          <a:lstStyle/>
          <a:p>
            <a:pPr algn="ctr">
              <a:spcBef>
                <a:spcPts val="0"/>
              </a:spcBef>
              <a:spcAft>
                <a:spcPts val="400"/>
              </a:spcAft>
            </a:pPr>
            <a:r>
              <a:rPr sz="1300" b="0" i="1">
                <a:solidFill>
                  <a:srgbClr val="F0C040"/>
                </a:solidFill>
                <a:latin typeface="Segoe UI"/>
              </a:rPr>
              <a:t>We don't pitch solutions before understanding problems — today is about your requirements, in detail.</a:t>
            </a:r>
          </a:p>
        </p:txBody>
      </p:sp>
      <p:sp>
        <p:nvSpPr>
          <p:cNvPr id="13" name="TextBox 12"/>
          <p:cNvSpPr txBox="1"/>
          <p:nvPr/>
        </p:nvSpPr>
        <p:spPr>
          <a:xfrm>
            <a:off x="640080" y="6437376"/>
            <a:ext cx="8229600" cy="274320"/>
          </a:xfrm>
          <a:prstGeom prst="rect">
            <a:avLst/>
          </a:prstGeom>
          <a:noFill/>
        </p:spPr>
        <p:txBody>
          <a:bodyPr wrap="square">
            <a:spAutoFit/>
          </a:bodyPr>
          <a:lstStyle/>
          <a:p>
            <a:pPr algn="l">
              <a:spcBef>
                <a:spcPts val="0"/>
              </a:spcBef>
              <a:spcAft>
                <a:spcPts val="400"/>
              </a:spcAft>
            </a:pPr>
            <a:r>
              <a:rPr sz="900" b="0" i="0">
                <a:solidFill>
                  <a:srgbClr val="828292"/>
                </a:solidFill>
                <a:latin typeface="Segoe UI"/>
              </a:rPr>
              <a:t>AnantaSutra   ·   anantasutra.com</a:t>
            </a:r>
          </a:p>
        </p:txBody>
      </p:sp>
      <p:sp>
        <p:nvSpPr>
          <p:cNvPr id="14" name="TextBox 13"/>
          <p:cNvSpPr txBox="1"/>
          <p:nvPr/>
        </p:nvSpPr>
        <p:spPr>
          <a:xfrm>
            <a:off x="10881360" y="6437376"/>
            <a:ext cx="822960" cy="274320"/>
          </a:xfrm>
          <a:prstGeom prst="rect">
            <a:avLst/>
          </a:prstGeom>
          <a:noFill/>
        </p:spPr>
        <p:txBody>
          <a:bodyPr wrap="square">
            <a:spAutoFit/>
          </a:bodyPr>
          <a:lstStyle/>
          <a:p>
            <a:pPr algn="r">
              <a:spcBef>
                <a:spcPts val="0"/>
              </a:spcBef>
              <a:spcAft>
                <a:spcPts val="400"/>
              </a:spcAft>
            </a:pPr>
            <a:r>
              <a:rPr sz="900" b="0" i="0">
                <a:solidFill>
                  <a:srgbClr val="828292"/>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320040"/>
          </a:xfrm>
          <a:prstGeom prst="rect">
            <a:avLst/>
          </a:prstGeom>
          <a:noFill/>
        </p:spPr>
        <p:txBody>
          <a:bodyPr wrap="square">
            <a:spAutoFit/>
          </a:bodyPr>
          <a:lstStyle/>
          <a:p>
            <a:pPr algn="l">
              <a:spcBef>
                <a:spcPts val="0"/>
              </a:spcBef>
              <a:spcAft>
                <a:spcPts val="400"/>
              </a:spcAft>
            </a:pPr>
            <a:r>
              <a:rPr sz="1200" b="1" i="0">
                <a:solidFill>
                  <a:srgbClr val="E8A317"/>
                </a:solidFill>
                <a:latin typeface="Segoe UI"/>
              </a:rPr>
              <a:t>WHO WE ARE</a:t>
            </a:r>
          </a:p>
        </p:txBody>
      </p:sp>
      <p:sp>
        <p:nvSpPr>
          <p:cNvPr id="4" name="TextBox 3"/>
          <p:cNvSpPr txBox="1"/>
          <p:nvPr/>
        </p:nvSpPr>
        <p:spPr>
          <a:xfrm>
            <a:off x="640080" y="749808"/>
            <a:ext cx="11155680" cy="914400"/>
          </a:xfrm>
          <a:prstGeom prst="rect">
            <a:avLst/>
          </a:prstGeom>
          <a:noFill/>
        </p:spPr>
        <p:txBody>
          <a:bodyPr wrap="square">
            <a:spAutoFit/>
          </a:bodyPr>
          <a:lstStyle/>
          <a:p>
            <a:pPr algn="l">
              <a:spcBef>
                <a:spcPts val="0"/>
              </a:spcBef>
              <a:spcAft>
                <a:spcPts val="400"/>
              </a:spcAft>
            </a:pPr>
            <a:r>
              <a:rPr sz="3200" b="1" i="0">
                <a:solidFill>
                  <a:srgbClr val="FFFFFF"/>
                </a:solidFill>
                <a:latin typeface="Segoe UI"/>
              </a:rPr>
              <a:t>Dedicated experts, embedded in your team.</a:t>
            </a:r>
          </a:p>
        </p:txBody>
      </p:sp>
      <p:sp>
        <p:nvSpPr>
          <p:cNvPr id="5" name="Rectangle 4"/>
          <p:cNvSpPr/>
          <p:nvPr/>
        </p:nvSpPr>
        <p:spPr>
          <a:xfrm>
            <a:off x="667512" y="1572768"/>
            <a:ext cx="777240" cy="411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6858000" cy="2377440"/>
          </a:xfrm>
          <a:prstGeom prst="rect">
            <a:avLst/>
          </a:prstGeom>
          <a:noFill/>
        </p:spPr>
        <p:txBody>
          <a:bodyPr wrap="square">
            <a:spAutoFit/>
          </a:bodyPr>
          <a:lstStyle/>
          <a:p>
            <a:pPr algn="l">
              <a:spcBef>
                <a:spcPts val="0"/>
              </a:spcBef>
              <a:spcAft>
                <a:spcPts val="1200"/>
              </a:spcAft>
            </a:pPr>
            <a:r>
              <a:rPr sz="1550" b="0" i="0">
                <a:solidFill>
                  <a:srgbClr val="C9CAD3"/>
                </a:solidFill>
                <a:latin typeface="Segoe UI"/>
              </a:rPr>
              <a:t>AnantaSutra places vetted domain experts — growth, marketing, engineering, operations — inside your team. They work only for you, on your tools and your targets, and you pay just the expert's salary plus one small, transparent coordination fee. No agency markup, no lock-ins.</a:t>
            </a:r>
          </a:p>
          <a:p>
            <a:pPr algn="l">
              <a:spcBef>
                <a:spcPts val="0"/>
              </a:spcBef>
              <a:spcAft>
                <a:spcPts val="0"/>
              </a:spcAft>
            </a:pPr>
            <a:r>
              <a:rPr sz="1550" b="1" i="0">
                <a:solidFill>
                  <a:srgbClr val="F0C040"/>
                </a:solidFill>
                <a:latin typeface="Segoe UI"/>
              </a:rPr>
              <a:t>Already operating across India and the UAE — your corridor is home ground for us.</a:t>
            </a:r>
          </a:p>
        </p:txBody>
      </p:sp>
      <p:sp>
        <p:nvSpPr>
          <p:cNvPr id="7" name="Rounded Rectangle 6"/>
          <p:cNvSpPr/>
          <p:nvPr/>
        </p:nvSpPr>
        <p:spPr>
          <a:xfrm>
            <a:off x="640080" y="4572000"/>
            <a:ext cx="2521458" cy="137160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300"/>
              </a:spcAft>
            </a:pPr>
            <a:r>
              <a:rPr sz="2400" b="1" i="0">
                <a:solidFill>
                  <a:srgbClr val="E8A317"/>
                </a:solidFill>
                <a:latin typeface="Segoe UI"/>
              </a:rPr>
              <a:t>10+</a:t>
            </a:r>
          </a:p>
          <a:p>
            <a:pPr algn="ctr">
              <a:spcBef>
                <a:spcPts val="0"/>
              </a:spcBef>
              <a:spcAft>
                <a:spcPts val="0"/>
              </a:spcAft>
            </a:pPr>
            <a:r>
              <a:rPr sz="1050" b="0" i="0">
                <a:solidFill>
                  <a:srgbClr val="C9CAD3"/>
                </a:solidFill>
                <a:latin typeface="Segoe UI"/>
              </a:rPr>
              <a:t>Brands delivered</a:t>
            </a:r>
          </a:p>
        </p:txBody>
      </p:sp>
      <p:sp>
        <p:nvSpPr>
          <p:cNvPr id="8" name="Rounded Rectangle 7"/>
          <p:cNvSpPr/>
          <p:nvPr/>
        </p:nvSpPr>
        <p:spPr>
          <a:xfrm>
            <a:off x="3435857" y="4572000"/>
            <a:ext cx="2521458" cy="137160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300"/>
              </a:spcAft>
            </a:pPr>
            <a:r>
              <a:rPr sz="2400" b="1" i="0">
                <a:solidFill>
                  <a:srgbClr val="E8A317"/>
                </a:solidFill>
                <a:latin typeface="Segoe UI"/>
              </a:rPr>
              <a:t>4</a:t>
            </a:r>
          </a:p>
          <a:p>
            <a:pPr algn="ctr">
              <a:spcBef>
                <a:spcPts val="0"/>
              </a:spcBef>
              <a:spcAft>
                <a:spcPts val="0"/>
              </a:spcAft>
            </a:pPr>
            <a:r>
              <a:rPr sz="1050" b="0" i="0">
                <a:solidFill>
                  <a:srgbClr val="C9CAD3"/>
                </a:solidFill>
                <a:latin typeface="Segoe UI"/>
              </a:rPr>
              <a:t>Continents served</a:t>
            </a:r>
          </a:p>
        </p:txBody>
      </p:sp>
      <p:sp>
        <p:nvSpPr>
          <p:cNvPr id="9" name="Rounded Rectangle 8"/>
          <p:cNvSpPr/>
          <p:nvPr/>
        </p:nvSpPr>
        <p:spPr>
          <a:xfrm>
            <a:off x="6231636" y="4572000"/>
            <a:ext cx="2521458" cy="137160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300"/>
              </a:spcAft>
            </a:pPr>
            <a:r>
              <a:rPr sz="2400" b="1" i="0">
                <a:solidFill>
                  <a:srgbClr val="E8A317"/>
                </a:solidFill>
                <a:latin typeface="Segoe UI"/>
              </a:rPr>
              <a:t>12+</a:t>
            </a:r>
          </a:p>
          <a:p>
            <a:pPr algn="ctr">
              <a:spcBef>
                <a:spcPts val="0"/>
              </a:spcBef>
              <a:spcAft>
                <a:spcPts val="0"/>
              </a:spcAft>
            </a:pPr>
            <a:r>
              <a:rPr sz="1050" b="0" i="0">
                <a:solidFill>
                  <a:srgbClr val="C9CAD3"/>
                </a:solidFill>
                <a:latin typeface="Segoe UI"/>
              </a:rPr>
              <a:t>Expert domains</a:t>
            </a:r>
          </a:p>
        </p:txBody>
      </p:sp>
      <p:sp>
        <p:nvSpPr>
          <p:cNvPr id="10" name="Rounded Rectangle 9"/>
          <p:cNvSpPr/>
          <p:nvPr/>
        </p:nvSpPr>
        <p:spPr>
          <a:xfrm>
            <a:off x="9027413" y="4572000"/>
            <a:ext cx="2521458" cy="137160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300"/>
              </a:spcAft>
            </a:pPr>
            <a:r>
              <a:rPr sz="2400" b="1" i="0">
                <a:solidFill>
                  <a:srgbClr val="E8A317"/>
                </a:solidFill>
                <a:latin typeface="Segoe UI"/>
              </a:rPr>
              <a:t>7-Day</a:t>
            </a:r>
          </a:p>
          <a:p>
            <a:pPr algn="ctr">
              <a:spcBef>
                <a:spcPts val="0"/>
              </a:spcBef>
              <a:spcAft>
                <a:spcPts val="0"/>
              </a:spcAft>
            </a:pPr>
            <a:r>
              <a:rPr sz="1050" b="0" i="0">
                <a:solidFill>
                  <a:srgbClr val="C9CAD3"/>
                </a:solidFill>
                <a:latin typeface="Segoe UI"/>
              </a:rPr>
              <a:t>Team onboarding</a:t>
            </a:r>
          </a:p>
        </p:txBody>
      </p:sp>
      <p:sp>
        <p:nvSpPr>
          <p:cNvPr id="11" name="TextBox 10"/>
          <p:cNvSpPr txBox="1"/>
          <p:nvPr/>
        </p:nvSpPr>
        <p:spPr>
          <a:xfrm>
            <a:off x="640080" y="6437376"/>
            <a:ext cx="8229600" cy="274320"/>
          </a:xfrm>
          <a:prstGeom prst="rect">
            <a:avLst/>
          </a:prstGeom>
          <a:noFill/>
        </p:spPr>
        <p:txBody>
          <a:bodyPr wrap="square">
            <a:spAutoFit/>
          </a:bodyPr>
          <a:lstStyle/>
          <a:p>
            <a:pPr algn="l">
              <a:spcBef>
                <a:spcPts val="0"/>
              </a:spcBef>
              <a:spcAft>
                <a:spcPts val="400"/>
              </a:spcAft>
            </a:pPr>
            <a:r>
              <a:rPr sz="900" b="0" i="0">
                <a:solidFill>
                  <a:srgbClr val="828292"/>
                </a:solidFill>
                <a:latin typeface="Segoe UI"/>
              </a:rPr>
              <a:t>AnantaSutra   ·   anantasutra.com</a:t>
            </a:r>
          </a:p>
        </p:txBody>
      </p:sp>
      <p:sp>
        <p:nvSpPr>
          <p:cNvPr id="12" name="TextBox 11"/>
          <p:cNvSpPr txBox="1"/>
          <p:nvPr/>
        </p:nvSpPr>
        <p:spPr>
          <a:xfrm>
            <a:off x="10881360" y="6437376"/>
            <a:ext cx="822960" cy="274320"/>
          </a:xfrm>
          <a:prstGeom prst="rect">
            <a:avLst/>
          </a:prstGeom>
          <a:noFill/>
        </p:spPr>
        <p:txBody>
          <a:bodyPr wrap="square">
            <a:spAutoFit/>
          </a:bodyPr>
          <a:lstStyle/>
          <a:p>
            <a:pPr algn="r">
              <a:spcBef>
                <a:spcPts val="0"/>
              </a:spcBef>
              <a:spcAft>
                <a:spcPts val="400"/>
              </a:spcAft>
            </a:pPr>
            <a:r>
              <a:rPr sz="900" b="0" i="0">
                <a:solidFill>
                  <a:srgbClr val="828292"/>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320040"/>
          </a:xfrm>
          <a:prstGeom prst="rect">
            <a:avLst/>
          </a:prstGeom>
          <a:noFill/>
        </p:spPr>
        <p:txBody>
          <a:bodyPr wrap="square">
            <a:spAutoFit/>
          </a:bodyPr>
          <a:lstStyle/>
          <a:p>
            <a:pPr algn="l">
              <a:spcBef>
                <a:spcPts val="0"/>
              </a:spcBef>
              <a:spcAft>
                <a:spcPts val="400"/>
              </a:spcAft>
            </a:pPr>
            <a:r>
              <a:rPr sz="1200" b="1" i="0">
                <a:solidFill>
                  <a:srgbClr val="E8A317"/>
                </a:solidFill>
                <a:latin typeface="Segoe UI"/>
              </a:rPr>
              <a:t>YOUR CONTEXT</a:t>
            </a:r>
          </a:p>
        </p:txBody>
      </p:sp>
      <p:sp>
        <p:nvSpPr>
          <p:cNvPr id="4" name="TextBox 3"/>
          <p:cNvSpPr txBox="1"/>
          <p:nvPr/>
        </p:nvSpPr>
        <p:spPr>
          <a:xfrm>
            <a:off x="640080" y="749808"/>
            <a:ext cx="11155680" cy="914400"/>
          </a:xfrm>
          <a:prstGeom prst="rect">
            <a:avLst/>
          </a:prstGeom>
          <a:noFill/>
        </p:spPr>
        <p:txBody>
          <a:bodyPr wrap="square">
            <a:spAutoFit/>
          </a:bodyPr>
          <a:lstStyle/>
          <a:p>
            <a:pPr algn="l">
              <a:spcBef>
                <a:spcPts val="0"/>
              </a:spcBef>
              <a:spcAft>
                <a:spcPts val="400"/>
              </a:spcAft>
            </a:pPr>
            <a:r>
              <a:rPr sz="3200" b="1" i="0">
                <a:solidFill>
                  <a:srgbClr val="FFFFFF"/>
                </a:solidFill>
                <a:latin typeface="Segoe UI"/>
              </a:rPr>
              <a:t>What we understand so far — you'll tell us the rest.</a:t>
            </a:r>
          </a:p>
        </p:txBody>
      </p:sp>
      <p:sp>
        <p:nvSpPr>
          <p:cNvPr id="5" name="Rectangle 4"/>
          <p:cNvSpPr/>
          <p:nvPr/>
        </p:nvSpPr>
        <p:spPr>
          <a:xfrm>
            <a:off x="667512" y="1572768"/>
            <a:ext cx="777240" cy="411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57400"/>
            <a:ext cx="3453384"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50" b="1" i="0">
                <a:solidFill>
                  <a:srgbClr val="FFFFFF"/>
                </a:solidFill>
                <a:latin typeface="Segoe UI"/>
              </a:rPr>
              <a:t>The brand</a:t>
            </a:r>
          </a:p>
          <a:p>
            <a:pPr algn="l">
              <a:spcBef>
                <a:spcPts val="0"/>
              </a:spcBef>
              <a:spcAft>
                <a:spcPts val="300"/>
              </a:spcAft>
            </a:pPr>
            <a:r>
              <a:rPr sz="1150" b="0" i="0">
                <a:solidFill>
                  <a:srgbClr val="C9CAD3"/>
                </a:solidFill>
                <a:latin typeface="Segoe UI"/>
              </a:rPr>
              <a:t>Premium experiential gifting from Dubai —</a:t>
            </a:r>
          </a:p>
          <a:p>
            <a:pPr algn="l">
              <a:spcBef>
                <a:spcPts val="0"/>
              </a:spcBef>
              <a:spcAft>
                <a:spcPts val="300"/>
              </a:spcAft>
            </a:pPr>
            <a:r>
              <a:rPr sz="1150" b="0" i="0">
                <a:solidFill>
                  <a:srgbClr val="C9CAD3"/>
                </a:solidFill>
                <a:latin typeface="Segoe UI"/>
              </a:rPr>
              <a:t>five-star dining, adventures, staycations,</a:t>
            </a:r>
          </a:p>
          <a:p>
            <a:pPr algn="l">
              <a:spcBef>
                <a:spcPts val="0"/>
              </a:spcBef>
              <a:spcAft>
                <a:spcPts val="300"/>
              </a:spcAft>
            </a:pPr>
            <a:r>
              <a:rPr sz="1150" b="0" i="0">
                <a:solidFill>
                  <a:srgbClr val="C9CAD3"/>
                </a:solidFill>
                <a:latin typeface="Segoe UI"/>
              </a:rPr>
              <a:t>partners like Atlantis and Burj Khalifa.</a:t>
            </a:r>
          </a:p>
        </p:txBody>
      </p:sp>
      <p:sp>
        <p:nvSpPr>
          <p:cNvPr id="7" name="Rectangle 6"/>
          <p:cNvSpPr/>
          <p:nvPr/>
        </p:nvSpPr>
        <p:spPr>
          <a:xfrm>
            <a:off x="877824" y="2240280"/>
            <a:ext cx="310896" cy="3200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67784" y="2057400"/>
            <a:ext cx="3453384"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50" b="1" i="0">
                <a:solidFill>
                  <a:srgbClr val="FFFFFF"/>
                </a:solidFill>
                <a:latin typeface="Segoe UI"/>
              </a:rPr>
              <a:t>The move</a:t>
            </a:r>
          </a:p>
          <a:p>
            <a:pPr algn="l">
              <a:spcBef>
                <a:spcPts val="0"/>
              </a:spcBef>
              <a:spcAft>
                <a:spcPts val="300"/>
              </a:spcAft>
            </a:pPr>
            <a:r>
              <a:rPr sz="1150" b="0" i="0">
                <a:solidFill>
                  <a:srgbClr val="C9CAD3"/>
                </a:solidFill>
                <a:latin typeface="Segoe UI"/>
              </a:rPr>
              <a:t>A recent launch into India — a market</a:t>
            </a:r>
          </a:p>
          <a:p>
            <a:pPr algn="l">
              <a:spcBef>
                <a:spcPts val="0"/>
              </a:spcBef>
              <a:spcAft>
                <a:spcPts val="300"/>
              </a:spcAft>
            </a:pPr>
            <a:r>
              <a:rPr sz="1150" b="0" i="0">
                <a:solidFill>
                  <a:srgbClr val="C9CAD3"/>
                </a:solidFill>
                <a:latin typeface="Segoe UI"/>
              </a:rPr>
              <a:t>whose affluent buyers and corporates are</a:t>
            </a:r>
          </a:p>
          <a:p>
            <a:pPr algn="l">
              <a:spcBef>
                <a:spcPts val="0"/>
              </a:spcBef>
              <a:spcAft>
                <a:spcPts val="300"/>
              </a:spcAft>
            </a:pPr>
            <a:r>
              <a:rPr sz="1150" b="0" i="0">
                <a:solidFill>
                  <a:srgbClr val="C9CAD3"/>
                </a:solidFill>
                <a:latin typeface="Segoe UI"/>
              </a:rPr>
              <a:t>ready for exactly this product.</a:t>
            </a:r>
          </a:p>
        </p:txBody>
      </p:sp>
      <p:sp>
        <p:nvSpPr>
          <p:cNvPr id="9" name="Rectangle 8"/>
          <p:cNvSpPr/>
          <p:nvPr/>
        </p:nvSpPr>
        <p:spPr>
          <a:xfrm>
            <a:off x="4605528" y="2240280"/>
            <a:ext cx="310896" cy="32004"/>
          </a:xfrm>
          <a:prstGeom prst="rect">
            <a:avLst/>
          </a:prstGeom>
          <a:solidFill>
            <a:srgbClr val="6A3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5488" y="2057400"/>
            <a:ext cx="3453384"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50" b="1" i="0">
                <a:solidFill>
                  <a:srgbClr val="FFFFFF"/>
                </a:solidFill>
                <a:latin typeface="Segoe UI"/>
              </a:rPr>
              <a:t>The need</a:t>
            </a:r>
          </a:p>
          <a:p>
            <a:pPr algn="l">
              <a:spcBef>
                <a:spcPts val="0"/>
              </a:spcBef>
              <a:spcAft>
                <a:spcPts val="300"/>
              </a:spcAft>
            </a:pPr>
            <a:r>
              <a:rPr sz="1150" b="0" i="0">
                <a:solidFill>
                  <a:srgbClr val="C9CAD3"/>
                </a:solidFill>
                <a:latin typeface="Segoe UI"/>
              </a:rPr>
              <a:t>A lead-generation engine on the ground:</a:t>
            </a:r>
          </a:p>
          <a:p>
            <a:pPr algn="l">
              <a:spcBef>
                <a:spcPts val="0"/>
              </a:spcBef>
              <a:spcAft>
                <a:spcPts val="300"/>
              </a:spcAft>
            </a:pPr>
            <a:r>
              <a:rPr sz="1150" b="0" i="0">
                <a:solidFill>
                  <a:srgbClr val="C9CAD3"/>
                </a:solidFill>
                <a:latin typeface="Segoe UI"/>
              </a:rPr>
              <a:t>HNI audiences, premium-corporate reach,</a:t>
            </a:r>
          </a:p>
          <a:p>
            <a:pPr algn="l">
              <a:spcBef>
                <a:spcPts val="0"/>
              </a:spcBef>
              <a:spcAft>
                <a:spcPts val="300"/>
              </a:spcAft>
            </a:pPr>
            <a:r>
              <a:rPr sz="1150" b="0" i="0">
                <a:solidFill>
                  <a:srgbClr val="C9CAD3"/>
                </a:solidFill>
                <a:latin typeface="Segoe UI"/>
              </a:rPr>
              <a:t>and a pipeline that runs every week.</a:t>
            </a:r>
          </a:p>
        </p:txBody>
      </p:sp>
      <p:sp>
        <p:nvSpPr>
          <p:cNvPr id="11" name="Rectangle 10"/>
          <p:cNvSpPr/>
          <p:nvPr/>
        </p:nvSpPr>
        <p:spPr>
          <a:xfrm>
            <a:off x="8333232" y="2240280"/>
            <a:ext cx="310896" cy="3200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349240"/>
            <a:ext cx="10908792" cy="457200"/>
          </a:xfrm>
          <a:prstGeom prst="rect">
            <a:avLst/>
          </a:prstGeom>
          <a:noFill/>
        </p:spPr>
        <p:txBody>
          <a:bodyPr wrap="square">
            <a:spAutoFit/>
          </a:bodyPr>
          <a:lstStyle/>
          <a:p>
            <a:pPr algn="ctr">
              <a:spcBef>
                <a:spcPts val="0"/>
              </a:spcBef>
              <a:spcAft>
                <a:spcPts val="400"/>
              </a:spcAft>
            </a:pPr>
            <a:r>
              <a:rPr sz="1300" b="0" i="1">
                <a:solidFill>
                  <a:srgbClr val="828292"/>
                </a:solidFill>
                <a:latin typeface="Segoe UI"/>
              </a:rPr>
              <a:t>Everything on this slide is our homework — today we want to hear it in your words, with your priorities.</a:t>
            </a:r>
          </a:p>
        </p:txBody>
      </p:sp>
      <p:sp>
        <p:nvSpPr>
          <p:cNvPr id="13" name="TextBox 12"/>
          <p:cNvSpPr txBox="1"/>
          <p:nvPr/>
        </p:nvSpPr>
        <p:spPr>
          <a:xfrm>
            <a:off x="640080" y="6437376"/>
            <a:ext cx="8229600" cy="274320"/>
          </a:xfrm>
          <a:prstGeom prst="rect">
            <a:avLst/>
          </a:prstGeom>
          <a:noFill/>
        </p:spPr>
        <p:txBody>
          <a:bodyPr wrap="square">
            <a:spAutoFit/>
          </a:bodyPr>
          <a:lstStyle/>
          <a:p>
            <a:pPr algn="l">
              <a:spcBef>
                <a:spcPts val="0"/>
              </a:spcBef>
              <a:spcAft>
                <a:spcPts val="400"/>
              </a:spcAft>
            </a:pPr>
            <a:r>
              <a:rPr sz="900" b="0" i="0">
                <a:solidFill>
                  <a:srgbClr val="828292"/>
                </a:solidFill>
                <a:latin typeface="Segoe UI"/>
              </a:rPr>
              <a:t>AnantaSutra   ·   anantasutra.com</a:t>
            </a:r>
          </a:p>
        </p:txBody>
      </p:sp>
      <p:sp>
        <p:nvSpPr>
          <p:cNvPr id="14" name="TextBox 13"/>
          <p:cNvSpPr txBox="1"/>
          <p:nvPr/>
        </p:nvSpPr>
        <p:spPr>
          <a:xfrm>
            <a:off x="10881360" y="6437376"/>
            <a:ext cx="822960" cy="274320"/>
          </a:xfrm>
          <a:prstGeom prst="rect">
            <a:avLst/>
          </a:prstGeom>
          <a:noFill/>
        </p:spPr>
        <p:txBody>
          <a:bodyPr wrap="square">
            <a:spAutoFit/>
          </a:bodyPr>
          <a:lstStyle/>
          <a:p>
            <a:pPr algn="r">
              <a:spcBef>
                <a:spcPts val="0"/>
              </a:spcBef>
              <a:spcAft>
                <a:spcPts val="400"/>
              </a:spcAft>
            </a:pPr>
            <a:r>
              <a:rPr sz="900" b="0" i="0">
                <a:solidFill>
                  <a:srgbClr val="828292"/>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320040"/>
          </a:xfrm>
          <a:prstGeom prst="rect">
            <a:avLst/>
          </a:prstGeom>
          <a:noFill/>
        </p:spPr>
        <p:txBody>
          <a:bodyPr wrap="square">
            <a:spAutoFit/>
          </a:bodyPr>
          <a:lstStyle/>
          <a:p>
            <a:pPr algn="l">
              <a:spcBef>
                <a:spcPts val="0"/>
              </a:spcBef>
              <a:spcAft>
                <a:spcPts val="400"/>
              </a:spcAft>
            </a:pPr>
            <a:r>
              <a:rPr sz="1200" b="1" i="0">
                <a:solidFill>
                  <a:srgbClr val="E8A317"/>
                </a:solidFill>
                <a:latin typeface="Segoe UI"/>
              </a:rPr>
              <a:t>OUR PROCESS</a:t>
            </a:r>
          </a:p>
        </p:txBody>
      </p:sp>
      <p:sp>
        <p:nvSpPr>
          <p:cNvPr id="4" name="TextBox 3"/>
          <p:cNvSpPr txBox="1"/>
          <p:nvPr/>
        </p:nvSpPr>
        <p:spPr>
          <a:xfrm>
            <a:off x="640080" y="749808"/>
            <a:ext cx="11155680" cy="914400"/>
          </a:xfrm>
          <a:prstGeom prst="rect">
            <a:avLst/>
          </a:prstGeom>
          <a:noFill/>
        </p:spPr>
        <p:txBody>
          <a:bodyPr wrap="square">
            <a:spAutoFit/>
          </a:bodyPr>
          <a:lstStyle/>
          <a:p>
            <a:pPr algn="l">
              <a:spcBef>
                <a:spcPts val="0"/>
              </a:spcBef>
              <a:spcAft>
                <a:spcPts val="400"/>
              </a:spcAft>
            </a:pPr>
            <a:r>
              <a:rPr sz="3200" b="1" i="0">
                <a:solidFill>
                  <a:srgbClr val="FFFFFF"/>
                </a:solidFill>
                <a:latin typeface="Segoe UI"/>
              </a:rPr>
              <a:t>From today's call to a running engine.</a:t>
            </a:r>
          </a:p>
        </p:txBody>
      </p:sp>
      <p:sp>
        <p:nvSpPr>
          <p:cNvPr id="5" name="Rectangle 4"/>
          <p:cNvSpPr/>
          <p:nvPr/>
        </p:nvSpPr>
        <p:spPr>
          <a:xfrm>
            <a:off x="667512" y="1572768"/>
            <a:ext cx="777240" cy="411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2006193" cy="329184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64592" tIns="201168"/>
          <a:lstStyle/>
          <a:p>
            <a:pPr algn="l">
              <a:spcBef>
                <a:spcPts val="0"/>
              </a:spcBef>
              <a:spcAft>
                <a:spcPts val="300"/>
              </a:spcAft>
            </a:pPr>
            <a:r>
              <a:rPr sz="2800" b="1" i="0">
                <a:solidFill>
                  <a:srgbClr val="F0C040"/>
                </a:solidFill>
                <a:latin typeface="Segoe UI"/>
              </a:rPr>
              <a:t>01</a:t>
            </a:r>
          </a:p>
          <a:p>
            <a:pPr algn="l">
              <a:spcBef>
                <a:spcPts val="0"/>
              </a:spcBef>
              <a:spcAft>
                <a:spcPts val="700"/>
              </a:spcAft>
            </a:pPr>
            <a:r>
              <a:rPr sz="1450" b="1" i="0">
                <a:solidFill>
                  <a:srgbClr val="FFFFFF"/>
                </a:solidFill>
                <a:latin typeface="Segoe UI"/>
              </a:rPr>
              <a:t>Discovery</a:t>
            </a:r>
          </a:p>
          <a:p>
            <a:pPr algn="l">
              <a:spcBef>
                <a:spcPts val="0"/>
              </a:spcBef>
              <a:spcAft>
                <a:spcPts val="200"/>
              </a:spcAft>
            </a:pPr>
            <a:r>
              <a:rPr sz="1050" b="0" i="0">
                <a:solidFill>
                  <a:srgbClr val="C9CAD3"/>
                </a:solidFill>
                <a:latin typeface="Segoe UI"/>
              </a:rPr>
              <a:t>Today's call — your requirements, priorities and success metrics, in detail.</a:t>
            </a:r>
          </a:p>
        </p:txBody>
      </p:sp>
      <p:sp>
        <p:nvSpPr>
          <p:cNvPr id="7" name="Rounded Rectangle 6"/>
          <p:cNvSpPr/>
          <p:nvPr/>
        </p:nvSpPr>
        <p:spPr>
          <a:xfrm>
            <a:off x="2865729" y="2011680"/>
            <a:ext cx="2006193" cy="329184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64592" tIns="201168"/>
          <a:lstStyle/>
          <a:p>
            <a:pPr algn="l">
              <a:spcBef>
                <a:spcPts val="0"/>
              </a:spcBef>
              <a:spcAft>
                <a:spcPts val="300"/>
              </a:spcAft>
            </a:pPr>
            <a:r>
              <a:rPr sz="2800" b="1" i="0">
                <a:solidFill>
                  <a:srgbClr val="F0C040"/>
                </a:solidFill>
                <a:latin typeface="Segoe UI"/>
              </a:rPr>
              <a:t>02</a:t>
            </a:r>
          </a:p>
          <a:p>
            <a:pPr algn="l">
              <a:spcBef>
                <a:spcPts val="0"/>
              </a:spcBef>
              <a:spcAft>
                <a:spcPts val="700"/>
              </a:spcAft>
            </a:pPr>
            <a:r>
              <a:rPr sz="1450" b="1" i="0">
                <a:solidFill>
                  <a:srgbClr val="FFFFFF"/>
                </a:solidFill>
                <a:latin typeface="Segoe UI"/>
              </a:rPr>
              <a:t>NDA</a:t>
            </a:r>
          </a:p>
          <a:p>
            <a:pPr algn="l">
              <a:spcBef>
                <a:spcPts val="0"/>
              </a:spcBef>
              <a:spcAft>
                <a:spcPts val="200"/>
              </a:spcAft>
            </a:pPr>
            <a:r>
              <a:rPr sz="1050" b="0" i="0">
                <a:solidFill>
                  <a:srgbClr val="C9CAD3"/>
                </a:solidFill>
                <a:latin typeface="Segoe UI"/>
              </a:rPr>
              <a:t>We sign an NDA before anything else — your plans and data stay protected from day one.</a:t>
            </a:r>
          </a:p>
        </p:txBody>
      </p:sp>
      <p:sp>
        <p:nvSpPr>
          <p:cNvPr id="8" name="Rounded Rectangle 7"/>
          <p:cNvSpPr/>
          <p:nvPr/>
        </p:nvSpPr>
        <p:spPr>
          <a:xfrm>
            <a:off x="5091379" y="2011680"/>
            <a:ext cx="2006193" cy="329184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64592" tIns="201168"/>
          <a:lstStyle/>
          <a:p>
            <a:pPr algn="l">
              <a:spcBef>
                <a:spcPts val="0"/>
              </a:spcBef>
              <a:spcAft>
                <a:spcPts val="300"/>
              </a:spcAft>
            </a:pPr>
            <a:r>
              <a:rPr sz="2800" b="1" i="0">
                <a:solidFill>
                  <a:srgbClr val="F0C040"/>
                </a:solidFill>
                <a:latin typeface="Segoe UI"/>
              </a:rPr>
              <a:t>03</a:t>
            </a:r>
          </a:p>
          <a:p>
            <a:pPr algn="l">
              <a:spcBef>
                <a:spcPts val="0"/>
              </a:spcBef>
              <a:spcAft>
                <a:spcPts val="700"/>
              </a:spcAft>
            </a:pPr>
            <a:r>
              <a:rPr sz="1450" b="1" i="0">
                <a:solidFill>
                  <a:srgbClr val="FFFFFF"/>
                </a:solidFill>
                <a:latin typeface="Segoe UI"/>
              </a:rPr>
              <a:t>Proposal</a:t>
            </a:r>
          </a:p>
          <a:p>
            <a:pPr algn="l">
              <a:spcBef>
                <a:spcPts val="0"/>
              </a:spcBef>
              <a:spcAft>
                <a:spcPts val="200"/>
              </a:spcAft>
            </a:pPr>
            <a:r>
              <a:rPr sz="1050" b="0" i="0">
                <a:solidFill>
                  <a:srgbClr val="C9CAD3"/>
                </a:solidFill>
                <a:latin typeface="Segoe UI"/>
              </a:rPr>
              <a:t>Every issue you raise, listed in one place — each mapped to a solution, ordered by YOUR priorities.</a:t>
            </a:r>
          </a:p>
        </p:txBody>
      </p:sp>
      <p:sp>
        <p:nvSpPr>
          <p:cNvPr id="9" name="Rounded Rectangle 8"/>
          <p:cNvSpPr/>
          <p:nvPr/>
        </p:nvSpPr>
        <p:spPr>
          <a:xfrm>
            <a:off x="7317028" y="2011680"/>
            <a:ext cx="2006193" cy="329184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64592" tIns="201168"/>
          <a:lstStyle/>
          <a:p>
            <a:pPr algn="l">
              <a:spcBef>
                <a:spcPts val="0"/>
              </a:spcBef>
              <a:spcAft>
                <a:spcPts val="300"/>
              </a:spcAft>
            </a:pPr>
            <a:r>
              <a:rPr sz="2800" b="1" i="0">
                <a:solidFill>
                  <a:srgbClr val="F0C040"/>
                </a:solidFill>
                <a:latin typeface="Segoe UI"/>
              </a:rPr>
              <a:t>04</a:t>
            </a:r>
          </a:p>
          <a:p>
            <a:pPr algn="l">
              <a:spcBef>
                <a:spcPts val="0"/>
              </a:spcBef>
              <a:spcAft>
                <a:spcPts val="700"/>
              </a:spcAft>
            </a:pPr>
            <a:r>
              <a:rPr sz="1450" b="1" i="0">
                <a:solidFill>
                  <a:srgbClr val="FFFFFF"/>
                </a:solidFill>
                <a:latin typeface="Segoe UI"/>
              </a:rPr>
              <a:t>Execution</a:t>
            </a:r>
          </a:p>
          <a:p>
            <a:pPr algn="l">
              <a:spcBef>
                <a:spcPts val="0"/>
              </a:spcBef>
              <a:spcAft>
                <a:spcPts val="200"/>
              </a:spcAft>
            </a:pPr>
            <a:r>
              <a:rPr sz="1050" b="0" i="0">
                <a:solidFill>
                  <a:srgbClr val="C9CAD3"/>
                </a:solidFill>
                <a:latin typeface="Segoe UI"/>
              </a:rPr>
              <a:t>A definite timeline against every deliverable — with named owners and a weekly cadence.</a:t>
            </a:r>
          </a:p>
        </p:txBody>
      </p:sp>
      <p:sp>
        <p:nvSpPr>
          <p:cNvPr id="10" name="Rounded Rectangle 9"/>
          <p:cNvSpPr/>
          <p:nvPr/>
        </p:nvSpPr>
        <p:spPr>
          <a:xfrm>
            <a:off x="9542678" y="2011680"/>
            <a:ext cx="2006193" cy="329184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64592" tIns="201168"/>
          <a:lstStyle/>
          <a:p>
            <a:pPr algn="l">
              <a:spcBef>
                <a:spcPts val="0"/>
              </a:spcBef>
              <a:spcAft>
                <a:spcPts val="300"/>
              </a:spcAft>
            </a:pPr>
            <a:r>
              <a:rPr sz="2800" b="1" i="0">
                <a:solidFill>
                  <a:srgbClr val="F0C040"/>
                </a:solidFill>
                <a:latin typeface="Segoe UI"/>
              </a:rPr>
              <a:t>05</a:t>
            </a:r>
          </a:p>
          <a:p>
            <a:pPr algn="l">
              <a:spcBef>
                <a:spcPts val="0"/>
              </a:spcBef>
              <a:spcAft>
                <a:spcPts val="700"/>
              </a:spcAft>
            </a:pPr>
            <a:r>
              <a:rPr sz="1450" b="1" i="0">
                <a:solidFill>
                  <a:srgbClr val="FFFFFF"/>
                </a:solidFill>
                <a:latin typeface="Segoe UI"/>
              </a:rPr>
              <a:t>Continuity</a:t>
            </a:r>
          </a:p>
          <a:p>
            <a:pPr algn="l">
              <a:spcBef>
                <a:spcPts val="0"/>
              </a:spcBef>
              <a:spcAft>
                <a:spcPts val="200"/>
              </a:spcAft>
            </a:pPr>
            <a:r>
              <a:rPr sz="1050" b="0" i="0">
                <a:solidFill>
                  <a:srgbClr val="C9CAD3"/>
                </a:solidFill>
                <a:latin typeface="Segoe UI"/>
              </a:rPr>
              <a:t>Weekly reviews, monthly reports, and coordinators who stay connected throughout.</a:t>
            </a:r>
          </a:p>
        </p:txBody>
      </p:sp>
      <p:sp>
        <p:nvSpPr>
          <p:cNvPr id="11" name="TextBox 10"/>
          <p:cNvSpPr txBox="1"/>
          <p:nvPr/>
        </p:nvSpPr>
        <p:spPr>
          <a:xfrm>
            <a:off x="640080" y="5577840"/>
            <a:ext cx="10908792" cy="457200"/>
          </a:xfrm>
          <a:prstGeom prst="rect">
            <a:avLst/>
          </a:prstGeom>
          <a:noFill/>
        </p:spPr>
        <p:txBody>
          <a:bodyPr wrap="square">
            <a:spAutoFit/>
          </a:bodyPr>
          <a:lstStyle/>
          <a:p>
            <a:pPr algn="ctr">
              <a:spcBef>
                <a:spcPts val="0"/>
              </a:spcBef>
              <a:spcAft>
                <a:spcPts val="400"/>
              </a:spcAft>
            </a:pPr>
            <a:r>
              <a:rPr sz="1300" b="0" i="1">
                <a:solidFill>
                  <a:srgbClr val="F0C040"/>
                </a:solidFill>
                <a:latin typeface="Segoe UI"/>
              </a:rPr>
              <a:t>Confidentiality first, clarity second, execution third — in that order, always.</a:t>
            </a:r>
          </a:p>
        </p:txBody>
      </p:sp>
      <p:sp>
        <p:nvSpPr>
          <p:cNvPr id="12" name="TextBox 11"/>
          <p:cNvSpPr txBox="1"/>
          <p:nvPr/>
        </p:nvSpPr>
        <p:spPr>
          <a:xfrm>
            <a:off x="640080" y="6437376"/>
            <a:ext cx="8229600" cy="274320"/>
          </a:xfrm>
          <a:prstGeom prst="rect">
            <a:avLst/>
          </a:prstGeom>
          <a:noFill/>
        </p:spPr>
        <p:txBody>
          <a:bodyPr wrap="square">
            <a:spAutoFit/>
          </a:bodyPr>
          <a:lstStyle/>
          <a:p>
            <a:pPr algn="l">
              <a:spcBef>
                <a:spcPts val="0"/>
              </a:spcBef>
              <a:spcAft>
                <a:spcPts val="400"/>
              </a:spcAft>
            </a:pPr>
            <a:r>
              <a:rPr sz="900" b="0" i="0">
                <a:solidFill>
                  <a:srgbClr val="828292"/>
                </a:solidFill>
                <a:latin typeface="Segoe UI"/>
              </a:rPr>
              <a:t>AnantaSutra   ·   anantasutra.com</a:t>
            </a:r>
          </a:p>
        </p:txBody>
      </p:sp>
      <p:sp>
        <p:nvSpPr>
          <p:cNvPr id="13" name="TextBox 12"/>
          <p:cNvSpPr txBox="1"/>
          <p:nvPr/>
        </p:nvSpPr>
        <p:spPr>
          <a:xfrm>
            <a:off x="10881360" y="6437376"/>
            <a:ext cx="822960" cy="274320"/>
          </a:xfrm>
          <a:prstGeom prst="rect">
            <a:avLst/>
          </a:prstGeom>
          <a:noFill/>
        </p:spPr>
        <p:txBody>
          <a:bodyPr wrap="square">
            <a:spAutoFit/>
          </a:bodyPr>
          <a:lstStyle/>
          <a:p>
            <a:pPr algn="r">
              <a:spcBef>
                <a:spcPts val="0"/>
              </a:spcBef>
              <a:spcAft>
                <a:spcPts val="400"/>
              </a:spcAft>
            </a:pPr>
            <a:r>
              <a:rPr sz="900" b="0" i="0">
                <a:solidFill>
                  <a:srgbClr val="828292"/>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320040"/>
          </a:xfrm>
          <a:prstGeom prst="rect">
            <a:avLst/>
          </a:prstGeom>
          <a:noFill/>
        </p:spPr>
        <p:txBody>
          <a:bodyPr wrap="square">
            <a:spAutoFit/>
          </a:bodyPr>
          <a:lstStyle/>
          <a:p>
            <a:pPr algn="l">
              <a:spcBef>
                <a:spcPts val="0"/>
              </a:spcBef>
              <a:spcAft>
                <a:spcPts val="400"/>
              </a:spcAft>
            </a:pPr>
            <a:r>
              <a:rPr sz="1200" b="1" i="0">
                <a:solidFill>
                  <a:srgbClr val="E8A317"/>
                </a:solidFill>
                <a:latin typeface="Segoe UI"/>
              </a:rPr>
              <a:t>COORDINATION</a:t>
            </a:r>
          </a:p>
        </p:txBody>
      </p:sp>
      <p:sp>
        <p:nvSpPr>
          <p:cNvPr id="4" name="TextBox 3"/>
          <p:cNvSpPr txBox="1"/>
          <p:nvPr/>
        </p:nvSpPr>
        <p:spPr>
          <a:xfrm>
            <a:off x="640080" y="749808"/>
            <a:ext cx="11155680" cy="914400"/>
          </a:xfrm>
          <a:prstGeom prst="rect">
            <a:avLst/>
          </a:prstGeom>
          <a:noFill/>
        </p:spPr>
        <p:txBody>
          <a:bodyPr wrap="square">
            <a:spAutoFit/>
          </a:bodyPr>
          <a:lstStyle/>
          <a:p>
            <a:pPr algn="l">
              <a:spcBef>
                <a:spcPts val="0"/>
              </a:spcBef>
              <a:spcAft>
                <a:spcPts val="400"/>
              </a:spcAft>
            </a:pPr>
            <a:r>
              <a:rPr sz="3200" b="1" i="0">
                <a:solidFill>
                  <a:srgbClr val="FFFFFF"/>
                </a:solidFill>
                <a:latin typeface="Segoe UI"/>
              </a:rPr>
              <a:t>Two named humans. One unbroken thread.</a:t>
            </a:r>
          </a:p>
        </p:txBody>
      </p:sp>
      <p:sp>
        <p:nvSpPr>
          <p:cNvPr id="5" name="Rectangle 4"/>
          <p:cNvSpPr/>
          <p:nvPr/>
        </p:nvSpPr>
        <p:spPr>
          <a:xfrm>
            <a:off x="667512" y="1572768"/>
            <a:ext cx="777240" cy="411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103120"/>
            <a:ext cx="3520440" cy="1828800"/>
          </a:xfrm>
          <a:prstGeom prst="roundRect">
            <a:avLst>
              <a:gd name="adj" fmla="val 5000"/>
            </a:avLst>
          </a:prstGeom>
          <a:solidFill>
            <a:srgbClr val="1B1612"/>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300"/>
              </a:spcAft>
            </a:pPr>
            <a:r>
              <a:rPr sz="2400" b="1" i="0">
                <a:solidFill>
                  <a:srgbClr val="F0C040"/>
                </a:solidFill>
                <a:latin typeface="Segoe UI"/>
              </a:rPr>
              <a:t>Himanshu</a:t>
            </a:r>
          </a:p>
          <a:p>
            <a:pPr algn="ctr">
              <a:spcBef>
                <a:spcPts val="0"/>
              </a:spcBef>
              <a:spcAft>
                <a:spcPts val="0"/>
              </a:spcAft>
            </a:pPr>
            <a:r>
              <a:rPr sz="1200" b="0" i="0">
                <a:solidFill>
                  <a:srgbClr val="C9CAD3"/>
                </a:solidFill>
                <a:latin typeface="Segoe UI"/>
              </a:rPr>
              <a:t>Client Coordination Lead</a:t>
            </a:r>
          </a:p>
        </p:txBody>
      </p:sp>
      <p:sp>
        <p:nvSpPr>
          <p:cNvPr id="7" name="Rounded Rectangle 6"/>
          <p:cNvSpPr/>
          <p:nvPr/>
        </p:nvSpPr>
        <p:spPr>
          <a:xfrm>
            <a:off x="4434840" y="2103120"/>
            <a:ext cx="3520440" cy="1828800"/>
          </a:xfrm>
          <a:prstGeom prst="roundRect">
            <a:avLst>
              <a:gd name="adj" fmla="val 5000"/>
            </a:avLst>
          </a:prstGeom>
          <a:solidFill>
            <a:srgbClr val="1B1612"/>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300"/>
              </a:spcAft>
            </a:pPr>
            <a:r>
              <a:rPr sz="2400" b="1" i="0">
                <a:solidFill>
                  <a:srgbClr val="F0C040"/>
                </a:solidFill>
                <a:latin typeface="Segoe UI"/>
              </a:rPr>
              <a:t>Yash</a:t>
            </a:r>
          </a:p>
          <a:p>
            <a:pPr algn="ctr">
              <a:spcBef>
                <a:spcPts val="0"/>
              </a:spcBef>
              <a:spcAft>
                <a:spcPts val="0"/>
              </a:spcAft>
            </a:pPr>
            <a:r>
              <a:rPr sz="1200" b="0" i="0">
                <a:solidFill>
                  <a:srgbClr val="C9CAD3"/>
                </a:solidFill>
                <a:latin typeface="Segoe UI"/>
              </a:rPr>
              <a:t>Client Coordination Lead</a:t>
            </a:r>
          </a:p>
        </p:txBody>
      </p:sp>
      <p:sp>
        <p:nvSpPr>
          <p:cNvPr id="8" name="Rounded Rectangle 7"/>
          <p:cNvSpPr/>
          <p:nvPr/>
        </p:nvSpPr>
        <p:spPr>
          <a:xfrm>
            <a:off x="8229600" y="2103120"/>
            <a:ext cx="3319272" cy="182880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182880"/>
          <a:lstStyle/>
          <a:p>
            <a:pPr algn="ctr">
              <a:spcBef>
                <a:spcPts val="0"/>
              </a:spcBef>
              <a:spcAft>
                <a:spcPts val="400"/>
              </a:spcAft>
            </a:pPr>
            <a:r>
              <a:rPr sz="1400" b="1" i="0">
                <a:solidFill>
                  <a:srgbClr val="FFFFFF"/>
                </a:solidFill>
                <a:latin typeface="Segoe UI"/>
              </a:rPr>
              <a:t>Escalation</a:t>
            </a:r>
          </a:p>
          <a:p>
            <a:pPr algn="ctr">
              <a:spcBef>
                <a:spcPts val="0"/>
              </a:spcBef>
              <a:spcAft>
                <a:spcPts val="0"/>
              </a:spcAft>
            </a:pPr>
            <a:r>
              <a:rPr sz="1150" b="0" i="0">
                <a:solidFill>
                  <a:srgbClr val="C9CAD3"/>
                </a:solidFill>
                <a:latin typeface="Segoe UI"/>
              </a:rPr>
              <a:t>Co-founder's direct line — always open to you.</a:t>
            </a:r>
          </a:p>
        </p:txBody>
      </p:sp>
      <p:sp>
        <p:nvSpPr>
          <p:cNvPr id="9" name="TextBox 8"/>
          <p:cNvSpPr txBox="1"/>
          <p:nvPr/>
        </p:nvSpPr>
        <p:spPr>
          <a:xfrm>
            <a:off x="640080" y="4297680"/>
            <a:ext cx="10972800" cy="1645920"/>
          </a:xfrm>
          <a:prstGeom prst="rect">
            <a:avLst/>
          </a:prstGeom>
          <a:noFill/>
        </p:spPr>
        <p:txBody>
          <a:bodyPr wrap="square">
            <a:spAutoFit/>
          </a:bodyPr>
          <a:lstStyle/>
          <a:p>
            <a:pPr algn="l">
              <a:spcBef>
                <a:spcPts val="0"/>
              </a:spcBef>
              <a:spcAft>
                <a:spcPts val="400"/>
              </a:spcAft>
            </a:pPr>
            <a:r>
              <a:rPr sz="1450" b="0" i="0">
                <a:solidFill>
                  <a:srgbClr val="C9CAD3"/>
                </a:solidFill>
                <a:latin typeface="Segoe UI"/>
              </a:rPr>
              <a:t>Himanshu and Yash stay connected with your team end-to-end — WhatsApp, email or calls, in your working hours. They own the communication: requirement clarifications, progress updates, weekly reviews and monthly reports all flow through one accountable channel, so nothing ever sits in an inbox waiting.</a:t>
            </a:r>
          </a:p>
        </p:txBody>
      </p:sp>
      <p:sp>
        <p:nvSpPr>
          <p:cNvPr id="10" name="TextBox 9"/>
          <p:cNvSpPr txBox="1"/>
          <p:nvPr/>
        </p:nvSpPr>
        <p:spPr>
          <a:xfrm>
            <a:off x="640080" y="6437376"/>
            <a:ext cx="8229600" cy="274320"/>
          </a:xfrm>
          <a:prstGeom prst="rect">
            <a:avLst/>
          </a:prstGeom>
          <a:noFill/>
        </p:spPr>
        <p:txBody>
          <a:bodyPr wrap="square">
            <a:spAutoFit/>
          </a:bodyPr>
          <a:lstStyle/>
          <a:p>
            <a:pPr algn="l">
              <a:spcBef>
                <a:spcPts val="0"/>
              </a:spcBef>
              <a:spcAft>
                <a:spcPts val="400"/>
              </a:spcAft>
            </a:pPr>
            <a:r>
              <a:rPr sz="900" b="0" i="0">
                <a:solidFill>
                  <a:srgbClr val="828292"/>
                </a:solidFill>
                <a:latin typeface="Segoe UI"/>
              </a:rPr>
              <a:t>AnantaSutra   ·   anantasutra.com</a:t>
            </a:r>
          </a:p>
        </p:txBody>
      </p:sp>
      <p:sp>
        <p:nvSpPr>
          <p:cNvPr id="11" name="TextBox 10"/>
          <p:cNvSpPr txBox="1"/>
          <p:nvPr/>
        </p:nvSpPr>
        <p:spPr>
          <a:xfrm>
            <a:off x="10881360" y="6437376"/>
            <a:ext cx="822960" cy="274320"/>
          </a:xfrm>
          <a:prstGeom prst="rect">
            <a:avLst/>
          </a:prstGeom>
          <a:noFill/>
        </p:spPr>
        <p:txBody>
          <a:bodyPr wrap="square">
            <a:spAutoFit/>
          </a:bodyPr>
          <a:lstStyle/>
          <a:p>
            <a:pPr algn="r">
              <a:spcBef>
                <a:spcPts val="0"/>
              </a:spcBef>
              <a:spcAft>
                <a:spcPts val="400"/>
              </a:spcAft>
            </a:pPr>
            <a:r>
              <a:rPr sz="900" b="0" i="0">
                <a:solidFill>
                  <a:srgbClr val="828292"/>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320040"/>
          </a:xfrm>
          <a:prstGeom prst="rect">
            <a:avLst/>
          </a:prstGeom>
          <a:noFill/>
        </p:spPr>
        <p:txBody>
          <a:bodyPr wrap="square">
            <a:spAutoFit/>
          </a:bodyPr>
          <a:lstStyle/>
          <a:p>
            <a:pPr algn="l">
              <a:spcBef>
                <a:spcPts val="0"/>
              </a:spcBef>
              <a:spcAft>
                <a:spcPts val="400"/>
              </a:spcAft>
            </a:pPr>
            <a:r>
              <a:rPr sz="1200" b="1" i="0">
                <a:solidFill>
                  <a:srgbClr val="E8A317"/>
                </a:solidFill>
                <a:latin typeface="Segoe UI"/>
              </a:rPr>
              <a:t>OUR COMMITMENT</a:t>
            </a:r>
          </a:p>
        </p:txBody>
      </p:sp>
      <p:sp>
        <p:nvSpPr>
          <p:cNvPr id="4" name="TextBox 3"/>
          <p:cNvSpPr txBox="1"/>
          <p:nvPr/>
        </p:nvSpPr>
        <p:spPr>
          <a:xfrm>
            <a:off x="640080" y="749808"/>
            <a:ext cx="11155680" cy="914400"/>
          </a:xfrm>
          <a:prstGeom prst="rect">
            <a:avLst/>
          </a:prstGeom>
          <a:noFill/>
        </p:spPr>
        <p:txBody>
          <a:bodyPr wrap="square">
            <a:spAutoFit/>
          </a:bodyPr>
          <a:lstStyle/>
          <a:p>
            <a:pPr algn="l">
              <a:spcBef>
                <a:spcPts val="0"/>
              </a:spcBef>
              <a:spcAft>
                <a:spcPts val="400"/>
              </a:spcAft>
            </a:pPr>
            <a:r>
              <a:rPr sz="3200" b="1" i="0">
                <a:solidFill>
                  <a:srgbClr val="FFFFFF"/>
                </a:solidFill>
                <a:latin typeface="Segoe UI"/>
              </a:rPr>
              <a:t>A definite timeline — and we pay for our own delays.</a:t>
            </a:r>
          </a:p>
        </p:txBody>
      </p:sp>
      <p:sp>
        <p:nvSpPr>
          <p:cNvPr id="5" name="Rectangle 4"/>
          <p:cNvSpPr/>
          <p:nvPr/>
        </p:nvSpPr>
        <p:spPr>
          <a:xfrm>
            <a:off x="667512" y="1572768"/>
            <a:ext cx="777240" cy="411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6675120" cy="1280160"/>
          </a:xfrm>
          <a:prstGeom prst="rect">
            <a:avLst/>
          </a:prstGeom>
          <a:noFill/>
        </p:spPr>
        <p:txBody>
          <a:bodyPr wrap="square">
            <a:spAutoFit/>
          </a:bodyPr>
          <a:lstStyle/>
          <a:p>
            <a:pPr algn="l">
              <a:spcBef>
                <a:spcPts val="0"/>
              </a:spcBef>
              <a:spcAft>
                <a:spcPts val="800"/>
              </a:spcAft>
            </a:pPr>
            <a:r>
              <a:rPr sz="1550" b="0" i="0">
                <a:solidFill>
                  <a:srgbClr val="C9CAD3"/>
                </a:solidFill>
                <a:latin typeface="Segoe UI"/>
              </a:rPr>
              <a:t>Every proposal ships with a definite, dated timeline against each deliverable. Till date, we have never missed one.</a:t>
            </a:r>
          </a:p>
          <a:p>
            <a:pPr algn="l">
              <a:spcBef>
                <a:spcPts val="0"/>
              </a:spcBef>
              <a:spcAft>
                <a:spcPts val="0"/>
              </a:spcAft>
            </a:pPr>
            <a:r>
              <a:rPr sz="1550" b="1" i="0">
                <a:solidFill>
                  <a:srgbClr val="F0C040"/>
                </a:solidFill>
                <a:latin typeface="Segoe UI"/>
              </a:rPr>
              <a:t>And we hold ourselves to it with a policy no agency offers:</a:t>
            </a:r>
          </a:p>
        </p:txBody>
      </p:sp>
      <p:sp>
        <p:nvSpPr>
          <p:cNvPr id="7" name="Rounded Rectangle 6"/>
          <p:cNvSpPr/>
          <p:nvPr/>
        </p:nvSpPr>
        <p:spPr>
          <a:xfrm>
            <a:off x="640080" y="3291840"/>
            <a:ext cx="3453384" cy="228600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00" b="1" i="0">
                <a:solidFill>
                  <a:srgbClr val="F0C040"/>
                </a:solidFill>
                <a:latin typeface="Segoe UI"/>
              </a:rPr>
              <a:t>If we ever delay…</a:t>
            </a:r>
          </a:p>
          <a:p>
            <a:pPr algn="l">
              <a:spcBef>
                <a:spcPts val="0"/>
              </a:spcBef>
              <a:spcAft>
                <a:spcPts val="300"/>
              </a:spcAft>
            </a:pPr>
            <a:r>
              <a:rPr sz="1150" b="0" i="0">
                <a:solidFill>
                  <a:srgbClr val="C9CAD3"/>
                </a:solidFill>
                <a:latin typeface="Segoe UI"/>
              </a:rPr>
              <a:t>Say a deliverable slips by 10 days</a:t>
            </a:r>
          </a:p>
          <a:p>
            <a:pPr algn="l">
              <a:spcBef>
                <a:spcPts val="0"/>
              </a:spcBef>
              <a:spcAft>
                <a:spcPts val="300"/>
              </a:spcAft>
            </a:pPr>
            <a:r>
              <a:rPr sz="1150" b="0" i="0">
                <a:solidFill>
                  <a:srgbClr val="C9CAD3"/>
                </a:solidFill>
                <a:latin typeface="Segoe UI"/>
              </a:rPr>
              <a:t>from the committed timeline.</a:t>
            </a:r>
          </a:p>
        </p:txBody>
      </p:sp>
      <p:sp>
        <p:nvSpPr>
          <p:cNvPr id="8" name="Rectangle 7"/>
          <p:cNvSpPr/>
          <p:nvPr/>
        </p:nvSpPr>
        <p:spPr>
          <a:xfrm>
            <a:off x="877824" y="3474720"/>
            <a:ext cx="310896" cy="3200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67784" y="3291840"/>
            <a:ext cx="3453384" cy="228600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00" b="1" i="0">
                <a:solidFill>
                  <a:srgbClr val="F0C040"/>
                </a:solidFill>
                <a:latin typeface="Segoe UI"/>
              </a:rPr>
              <a:t>…the delay is free…</a:t>
            </a:r>
          </a:p>
          <a:p>
            <a:pPr algn="l">
              <a:spcBef>
                <a:spcPts val="0"/>
              </a:spcBef>
              <a:spcAft>
                <a:spcPts val="300"/>
              </a:spcAft>
            </a:pPr>
            <a:r>
              <a:rPr sz="1150" b="0" i="0">
                <a:solidFill>
                  <a:srgbClr val="C9CAD3"/>
                </a:solidFill>
                <a:latin typeface="Segoe UI"/>
              </a:rPr>
              <a:t>Those next 10 days of work</a:t>
            </a:r>
          </a:p>
          <a:p>
            <a:pPr algn="l">
              <a:spcBef>
                <a:spcPts val="0"/>
              </a:spcBef>
              <a:spcAft>
                <a:spcPts val="300"/>
              </a:spcAft>
            </a:pPr>
            <a:r>
              <a:rPr sz="1150" b="0" i="0">
                <a:solidFill>
                  <a:srgbClr val="C9CAD3"/>
                </a:solidFill>
                <a:latin typeface="Segoe UI"/>
              </a:rPr>
              <a:t>are completely free — obviously.</a:t>
            </a:r>
          </a:p>
        </p:txBody>
      </p:sp>
      <p:sp>
        <p:nvSpPr>
          <p:cNvPr id="10" name="Rectangle 9"/>
          <p:cNvSpPr/>
          <p:nvPr/>
        </p:nvSpPr>
        <p:spPr>
          <a:xfrm>
            <a:off x="4605528" y="3474720"/>
            <a:ext cx="310896" cy="32004"/>
          </a:xfrm>
          <a:prstGeom prst="rect">
            <a:avLst/>
          </a:prstGeom>
          <a:solidFill>
            <a:srgbClr val="6A3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5488" y="3291840"/>
            <a:ext cx="3453384" cy="228600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500" b="1" i="0">
                <a:solidFill>
                  <a:srgbClr val="F0C040"/>
                </a:solidFill>
                <a:latin typeface="Segoe UI"/>
              </a:rPr>
              <a:t>…and we credit you back.</a:t>
            </a:r>
          </a:p>
          <a:p>
            <a:pPr algn="l">
              <a:spcBef>
                <a:spcPts val="0"/>
              </a:spcBef>
              <a:spcAft>
                <a:spcPts val="300"/>
              </a:spcAft>
            </a:pPr>
            <a:r>
              <a:rPr sz="1150" b="0" i="0">
                <a:solidFill>
                  <a:srgbClr val="C9CAD3"/>
                </a:solidFill>
                <a:latin typeface="Segoe UI"/>
              </a:rPr>
              <a:t>PLUS 10 days of the previous month's</a:t>
            </a:r>
          </a:p>
          <a:p>
            <a:pPr algn="l">
              <a:spcBef>
                <a:spcPts val="0"/>
              </a:spcBef>
              <a:spcAft>
                <a:spcPts val="300"/>
              </a:spcAft>
            </a:pPr>
            <a:r>
              <a:rPr sz="1150" b="0" i="0">
                <a:solidFill>
                  <a:srgbClr val="C9CAD3"/>
                </a:solidFill>
                <a:latin typeface="Segoe UI"/>
              </a:rPr>
              <a:t>fee is credited back to you.</a:t>
            </a:r>
          </a:p>
          <a:p>
            <a:pPr algn="l">
              <a:spcBef>
                <a:spcPts val="0"/>
              </a:spcBef>
              <a:spcAft>
                <a:spcPts val="300"/>
              </a:spcAft>
            </a:pPr>
            <a:r>
              <a:rPr sz="1150" b="0" i="0">
                <a:solidFill>
                  <a:srgbClr val="C9CAD3"/>
                </a:solidFill>
                <a:latin typeface="Segoe UI"/>
              </a:rPr>
              <a:t>We pay double for our own delays.</a:t>
            </a:r>
          </a:p>
        </p:txBody>
      </p:sp>
      <p:sp>
        <p:nvSpPr>
          <p:cNvPr id="12" name="Rectangle 11"/>
          <p:cNvSpPr/>
          <p:nvPr/>
        </p:nvSpPr>
        <p:spPr>
          <a:xfrm>
            <a:off x="8333232" y="3474720"/>
            <a:ext cx="310896" cy="3200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760720"/>
            <a:ext cx="10908792" cy="457200"/>
          </a:xfrm>
          <a:prstGeom prst="rect">
            <a:avLst/>
          </a:prstGeom>
          <a:noFill/>
        </p:spPr>
        <p:txBody>
          <a:bodyPr wrap="square">
            <a:spAutoFit/>
          </a:bodyPr>
          <a:lstStyle/>
          <a:p>
            <a:pPr algn="ctr">
              <a:spcBef>
                <a:spcPts val="0"/>
              </a:spcBef>
              <a:spcAft>
                <a:spcPts val="400"/>
              </a:spcAft>
            </a:pPr>
            <a:r>
              <a:rPr sz="1350" b="1" i="0">
                <a:solidFill>
                  <a:srgbClr val="FFFFFF"/>
                </a:solidFill>
                <a:latin typeface="Segoe UI"/>
              </a:rPr>
              <a:t>We can afford this guarantee for one reason: we have never had to use it.</a:t>
            </a:r>
          </a:p>
        </p:txBody>
      </p:sp>
      <p:sp>
        <p:nvSpPr>
          <p:cNvPr id="14" name="TextBox 13"/>
          <p:cNvSpPr txBox="1"/>
          <p:nvPr/>
        </p:nvSpPr>
        <p:spPr>
          <a:xfrm>
            <a:off x="640080" y="6437376"/>
            <a:ext cx="8229600" cy="274320"/>
          </a:xfrm>
          <a:prstGeom prst="rect">
            <a:avLst/>
          </a:prstGeom>
          <a:noFill/>
        </p:spPr>
        <p:txBody>
          <a:bodyPr wrap="square">
            <a:spAutoFit/>
          </a:bodyPr>
          <a:lstStyle/>
          <a:p>
            <a:pPr algn="l">
              <a:spcBef>
                <a:spcPts val="0"/>
              </a:spcBef>
              <a:spcAft>
                <a:spcPts val="400"/>
              </a:spcAft>
            </a:pPr>
            <a:r>
              <a:rPr sz="900" b="0" i="0">
                <a:solidFill>
                  <a:srgbClr val="828292"/>
                </a:solidFill>
                <a:latin typeface="Segoe UI"/>
              </a:rPr>
              <a:t>AnantaSutra   ·   anantasutra.com</a:t>
            </a:r>
          </a:p>
        </p:txBody>
      </p:sp>
      <p:sp>
        <p:nvSpPr>
          <p:cNvPr id="15" name="TextBox 14"/>
          <p:cNvSpPr txBox="1"/>
          <p:nvPr/>
        </p:nvSpPr>
        <p:spPr>
          <a:xfrm>
            <a:off x="10881360" y="6437376"/>
            <a:ext cx="822960" cy="274320"/>
          </a:xfrm>
          <a:prstGeom prst="rect">
            <a:avLst/>
          </a:prstGeom>
          <a:noFill/>
        </p:spPr>
        <p:txBody>
          <a:bodyPr wrap="square">
            <a:spAutoFit/>
          </a:bodyPr>
          <a:lstStyle/>
          <a:p>
            <a:pPr algn="r">
              <a:spcBef>
                <a:spcPts val="0"/>
              </a:spcBef>
              <a:spcAft>
                <a:spcPts val="400"/>
              </a:spcAft>
            </a:pPr>
            <a:r>
              <a:rPr sz="900" b="0" i="0">
                <a:solidFill>
                  <a:srgbClr val="828292"/>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320040"/>
          </a:xfrm>
          <a:prstGeom prst="rect">
            <a:avLst/>
          </a:prstGeom>
          <a:noFill/>
        </p:spPr>
        <p:txBody>
          <a:bodyPr wrap="square">
            <a:spAutoFit/>
          </a:bodyPr>
          <a:lstStyle/>
          <a:p>
            <a:pPr algn="l">
              <a:spcBef>
                <a:spcPts val="0"/>
              </a:spcBef>
              <a:spcAft>
                <a:spcPts val="400"/>
              </a:spcAft>
            </a:pPr>
            <a:r>
              <a:rPr sz="1200" b="1" i="0">
                <a:solidFill>
                  <a:srgbClr val="E8A317"/>
                </a:solidFill>
                <a:latin typeface="Segoe UI"/>
              </a:rPr>
              <a:t>PROOF, NOT PROMISES</a:t>
            </a:r>
          </a:p>
        </p:txBody>
      </p:sp>
      <p:sp>
        <p:nvSpPr>
          <p:cNvPr id="4" name="TextBox 3"/>
          <p:cNvSpPr txBox="1"/>
          <p:nvPr/>
        </p:nvSpPr>
        <p:spPr>
          <a:xfrm>
            <a:off x="640080" y="749808"/>
            <a:ext cx="11155680" cy="914400"/>
          </a:xfrm>
          <a:prstGeom prst="rect">
            <a:avLst/>
          </a:prstGeom>
          <a:noFill/>
        </p:spPr>
        <p:txBody>
          <a:bodyPr wrap="square">
            <a:spAutoFit/>
          </a:bodyPr>
          <a:lstStyle/>
          <a:p>
            <a:pPr algn="l">
              <a:spcBef>
                <a:spcPts val="0"/>
              </a:spcBef>
              <a:spcAft>
                <a:spcPts val="400"/>
              </a:spcAft>
            </a:pPr>
            <a:r>
              <a:rPr sz="3200" b="1" i="0">
                <a:solidFill>
                  <a:srgbClr val="FFFFFF"/>
                </a:solidFill>
                <a:latin typeface="Segoe UI"/>
              </a:rPr>
              <a:t>Results our embedded teams have delivered.</a:t>
            </a:r>
          </a:p>
        </p:txBody>
      </p:sp>
      <p:sp>
        <p:nvSpPr>
          <p:cNvPr id="5" name="Rectangle 4"/>
          <p:cNvSpPr/>
          <p:nvPr/>
        </p:nvSpPr>
        <p:spPr>
          <a:xfrm>
            <a:off x="667512" y="1572768"/>
            <a:ext cx="777240" cy="411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57400"/>
            <a:ext cx="2521458"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182880" tIns="219456"/>
          <a:lstStyle/>
          <a:p>
            <a:pPr algn="l">
              <a:spcBef>
                <a:spcPts val="0"/>
              </a:spcBef>
              <a:spcAft>
                <a:spcPts val="400"/>
              </a:spcAft>
            </a:pPr>
            <a:r>
              <a:rPr sz="2200" b="1" i="0">
                <a:solidFill>
                  <a:srgbClr val="6A3DE8"/>
                </a:solidFill>
                <a:latin typeface="Segoe UI"/>
              </a:rPr>
              <a:t>₹23L</a:t>
            </a:r>
          </a:p>
          <a:p>
            <a:pPr algn="l">
              <a:spcBef>
                <a:spcPts val="0"/>
              </a:spcBef>
              <a:spcAft>
                <a:spcPts val="400"/>
              </a:spcAft>
            </a:pPr>
            <a:r>
              <a:rPr sz="1300" b="1" i="0">
                <a:solidFill>
                  <a:srgbClr val="FFFFFF"/>
                </a:solidFill>
                <a:latin typeface="Segoe UI"/>
              </a:rPr>
              <a:t>BotWot</a:t>
            </a:r>
          </a:p>
          <a:p>
            <a:pPr algn="l">
              <a:spcBef>
                <a:spcPts val="0"/>
              </a:spcBef>
              <a:spcAft>
                <a:spcPts val="0"/>
              </a:spcAft>
            </a:pPr>
            <a:r>
              <a:rPr sz="1050" b="0" i="0">
                <a:solidFill>
                  <a:srgbClr val="C9CAD3"/>
                </a:solidFill>
                <a:latin typeface="Segoe UI"/>
              </a:rPr>
              <a:t>Average deal size closed across India, UAE &amp; Nigeria — cross-border marketing, your exact corridor.</a:t>
            </a:r>
          </a:p>
        </p:txBody>
      </p:sp>
      <p:sp>
        <p:nvSpPr>
          <p:cNvPr id="7" name="Rounded Rectangle 6"/>
          <p:cNvSpPr/>
          <p:nvPr/>
        </p:nvSpPr>
        <p:spPr>
          <a:xfrm>
            <a:off x="3435857" y="2057400"/>
            <a:ext cx="2521458"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182880" tIns="219456"/>
          <a:lstStyle/>
          <a:p>
            <a:pPr algn="l">
              <a:spcBef>
                <a:spcPts val="0"/>
              </a:spcBef>
              <a:spcAft>
                <a:spcPts val="400"/>
              </a:spcAft>
            </a:pPr>
            <a:r>
              <a:rPr sz="2200" b="1" i="0">
                <a:solidFill>
                  <a:srgbClr val="E8A317"/>
                </a:solidFill>
                <a:latin typeface="Segoe UI"/>
              </a:rPr>
              <a:t>₹25L → ₹40L</a:t>
            </a:r>
          </a:p>
          <a:p>
            <a:pPr algn="l">
              <a:spcBef>
                <a:spcPts val="0"/>
              </a:spcBef>
              <a:spcAft>
                <a:spcPts val="400"/>
              </a:spcAft>
            </a:pPr>
            <a:r>
              <a:rPr sz="1300" b="1" i="0">
                <a:solidFill>
                  <a:srgbClr val="FFFFFF"/>
                </a:solidFill>
                <a:latin typeface="Segoe UI"/>
              </a:rPr>
              <a:t>Awish Clinic</a:t>
            </a:r>
          </a:p>
          <a:p>
            <a:pPr algn="l">
              <a:spcBef>
                <a:spcPts val="0"/>
              </a:spcBef>
              <a:spcAft>
                <a:spcPts val="0"/>
              </a:spcAft>
            </a:pPr>
            <a:r>
              <a:rPr sz="1050" b="0" i="0">
                <a:solidFill>
                  <a:srgbClr val="C9CAD3"/>
                </a:solidFill>
                <a:latin typeface="Segoe UI"/>
              </a:rPr>
              <a:t>Monthly revenue in 2 months — embedded web, CRM &amp; ads experts (Delhi).</a:t>
            </a:r>
          </a:p>
        </p:txBody>
      </p:sp>
      <p:sp>
        <p:nvSpPr>
          <p:cNvPr id="8" name="Rounded Rectangle 7"/>
          <p:cNvSpPr/>
          <p:nvPr/>
        </p:nvSpPr>
        <p:spPr>
          <a:xfrm>
            <a:off x="6231636" y="2057400"/>
            <a:ext cx="2521458"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182880" tIns="219456"/>
          <a:lstStyle/>
          <a:p>
            <a:pPr algn="l">
              <a:spcBef>
                <a:spcPts val="0"/>
              </a:spcBef>
              <a:spcAft>
                <a:spcPts val="400"/>
              </a:spcAft>
            </a:pPr>
            <a:r>
              <a:rPr sz="2200" b="1" i="0">
                <a:solidFill>
                  <a:srgbClr val="E8A317"/>
                </a:solidFill>
                <a:latin typeface="Segoe UI"/>
              </a:rPr>
              <a:t>+46%</a:t>
            </a:r>
          </a:p>
          <a:p>
            <a:pPr algn="l">
              <a:spcBef>
                <a:spcPts val="0"/>
              </a:spcBef>
              <a:spcAft>
                <a:spcPts val="400"/>
              </a:spcAft>
            </a:pPr>
            <a:r>
              <a:rPr sz="1300" b="1" i="0">
                <a:solidFill>
                  <a:srgbClr val="FFFFFF"/>
                </a:solidFill>
                <a:latin typeface="Segoe UI"/>
              </a:rPr>
              <a:t>Zoom Wheels</a:t>
            </a:r>
          </a:p>
          <a:p>
            <a:pPr algn="l">
              <a:spcBef>
                <a:spcPts val="0"/>
              </a:spcBef>
              <a:spcAft>
                <a:spcPts val="0"/>
              </a:spcAft>
            </a:pPr>
            <a:r>
              <a:rPr sz="1050" b="0" i="0">
                <a:solidFill>
                  <a:srgbClr val="C9CAD3"/>
                </a:solidFill>
                <a:latin typeface="Segoe UI"/>
              </a:rPr>
              <a:t>Revenue growth from a dedicated performance-ads expert (Delhi).</a:t>
            </a:r>
          </a:p>
        </p:txBody>
      </p:sp>
      <p:sp>
        <p:nvSpPr>
          <p:cNvPr id="9" name="Rounded Rectangle 8"/>
          <p:cNvSpPr/>
          <p:nvPr/>
        </p:nvSpPr>
        <p:spPr>
          <a:xfrm>
            <a:off x="9027413" y="2057400"/>
            <a:ext cx="2521458" cy="301752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182880" tIns="219456"/>
          <a:lstStyle/>
          <a:p>
            <a:pPr algn="l">
              <a:spcBef>
                <a:spcPts val="0"/>
              </a:spcBef>
              <a:spcAft>
                <a:spcPts val="400"/>
              </a:spcAft>
            </a:pPr>
            <a:r>
              <a:rPr sz="2200" b="1" i="0">
                <a:solidFill>
                  <a:srgbClr val="6A3DE8"/>
                </a:solidFill>
                <a:latin typeface="Segoe UI"/>
              </a:rPr>
              <a:t>+38%</a:t>
            </a:r>
          </a:p>
          <a:p>
            <a:pPr algn="l">
              <a:spcBef>
                <a:spcPts val="0"/>
              </a:spcBef>
              <a:spcAft>
                <a:spcPts val="400"/>
              </a:spcAft>
            </a:pPr>
            <a:r>
              <a:rPr sz="1300" b="1" i="0">
                <a:solidFill>
                  <a:srgbClr val="FFFFFF"/>
                </a:solidFill>
                <a:latin typeface="Segoe UI"/>
              </a:rPr>
              <a:t>Royal Properties</a:t>
            </a:r>
          </a:p>
          <a:p>
            <a:pPr algn="l">
              <a:spcBef>
                <a:spcPts val="0"/>
              </a:spcBef>
              <a:spcAft>
                <a:spcPts val="0"/>
              </a:spcAft>
            </a:pPr>
            <a:r>
              <a:rPr sz="1050" b="0" i="0">
                <a:solidFill>
                  <a:srgbClr val="C9CAD3"/>
                </a:solidFill>
                <a:latin typeface="Segoe UI"/>
              </a:rPr>
              <a:t>Traffic lift from embedded funnel &amp; landing-page experts (Real Estate).</a:t>
            </a:r>
          </a:p>
        </p:txBody>
      </p:sp>
      <p:sp>
        <p:nvSpPr>
          <p:cNvPr id="10" name="TextBox 9"/>
          <p:cNvSpPr txBox="1"/>
          <p:nvPr/>
        </p:nvSpPr>
        <p:spPr>
          <a:xfrm>
            <a:off x="640080" y="5349240"/>
            <a:ext cx="10908792" cy="457200"/>
          </a:xfrm>
          <a:prstGeom prst="rect">
            <a:avLst/>
          </a:prstGeom>
          <a:noFill/>
        </p:spPr>
        <p:txBody>
          <a:bodyPr wrap="square">
            <a:spAutoFit/>
          </a:bodyPr>
          <a:lstStyle/>
          <a:p>
            <a:pPr algn="ctr">
              <a:spcBef>
                <a:spcPts val="0"/>
              </a:spcBef>
              <a:spcAft>
                <a:spcPts val="400"/>
              </a:spcAft>
            </a:pPr>
            <a:r>
              <a:rPr sz="1300" b="0" i="1">
                <a:solidFill>
                  <a:srgbClr val="F0C040"/>
                </a:solidFill>
                <a:latin typeface="Segoe UI"/>
              </a:rPr>
              <a:t>Also delivering for brands in Qatar, the UK and Nigeria — cross-border execution is what we do.</a:t>
            </a:r>
          </a:p>
        </p:txBody>
      </p:sp>
      <p:sp>
        <p:nvSpPr>
          <p:cNvPr id="11" name="TextBox 10"/>
          <p:cNvSpPr txBox="1"/>
          <p:nvPr/>
        </p:nvSpPr>
        <p:spPr>
          <a:xfrm>
            <a:off x="640080" y="6437376"/>
            <a:ext cx="8229600" cy="274320"/>
          </a:xfrm>
          <a:prstGeom prst="rect">
            <a:avLst/>
          </a:prstGeom>
          <a:noFill/>
        </p:spPr>
        <p:txBody>
          <a:bodyPr wrap="square">
            <a:spAutoFit/>
          </a:bodyPr>
          <a:lstStyle/>
          <a:p>
            <a:pPr algn="l">
              <a:spcBef>
                <a:spcPts val="0"/>
              </a:spcBef>
              <a:spcAft>
                <a:spcPts val="400"/>
              </a:spcAft>
            </a:pPr>
            <a:r>
              <a:rPr sz="900" b="0" i="0">
                <a:solidFill>
                  <a:srgbClr val="828292"/>
                </a:solidFill>
                <a:latin typeface="Segoe UI"/>
              </a:rPr>
              <a:t>AnantaSutra   ·   anantasutra.com</a:t>
            </a:r>
          </a:p>
        </p:txBody>
      </p:sp>
      <p:sp>
        <p:nvSpPr>
          <p:cNvPr id="12" name="TextBox 11"/>
          <p:cNvSpPr txBox="1"/>
          <p:nvPr/>
        </p:nvSpPr>
        <p:spPr>
          <a:xfrm>
            <a:off x="10881360" y="6437376"/>
            <a:ext cx="822960" cy="274320"/>
          </a:xfrm>
          <a:prstGeom prst="rect">
            <a:avLst/>
          </a:prstGeom>
          <a:noFill/>
        </p:spPr>
        <p:txBody>
          <a:bodyPr wrap="square">
            <a:spAutoFit/>
          </a:bodyPr>
          <a:lstStyle/>
          <a:p>
            <a:pPr algn="r">
              <a:spcBef>
                <a:spcPts val="0"/>
              </a:spcBef>
              <a:spcAft>
                <a:spcPts val="400"/>
              </a:spcAft>
            </a:pPr>
            <a:r>
              <a:rPr sz="900" b="0" i="0">
                <a:solidFill>
                  <a:srgbClr val="828292"/>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320040"/>
          </a:xfrm>
          <a:prstGeom prst="rect">
            <a:avLst/>
          </a:prstGeom>
          <a:noFill/>
        </p:spPr>
        <p:txBody>
          <a:bodyPr wrap="square">
            <a:spAutoFit/>
          </a:bodyPr>
          <a:lstStyle/>
          <a:p>
            <a:pPr algn="l">
              <a:spcBef>
                <a:spcPts val="0"/>
              </a:spcBef>
              <a:spcAft>
                <a:spcPts val="400"/>
              </a:spcAft>
            </a:pPr>
            <a:r>
              <a:rPr sz="1200" b="1" i="0">
                <a:solidFill>
                  <a:srgbClr val="E8A317"/>
                </a:solidFill>
                <a:latin typeface="Segoe UI"/>
              </a:rPr>
              <a:t>WHERE THIS CAN GO</a:t>
            </a:r>
          </a:p>
        </p:txBody>
      </p:sp>
      <p:sp>
        <p:nvSpPr>
          <p:cNvPr id="4" name="TextBox 3"/>
          <p:cNvSpPr txBox="1"/>
          <p:nvPr/>
        </p:nvSpPr>
        <p:spPr>
          <a:xfrm>
            <a:off x="640080" y="749808"/>
            <a:ext cx="11155680" cy="914400"/>
          </a:xfrm>
          <a:prstGeom prst="rect">
            <a:avLst/>
          </a:prstGeom>
          <a:noFill/>
        </p:spPr>
        <p:txBody>
          <a:bodyPr wrap="square">
            <a:spAutoFit/>
          </a:bodyPr>
          <a:lstStyle/>
          <a:p>
            <a:pPr algn="l">
              <a:spcBef>
                <a:spcPts val="0"/>
              </a:spcBef>
              <a:spcAft>
                <a:spcPts val="400"/>
              </a:spcAft>
            </a:pPr>
            <a:r>
              <a:rPr sz="3200" b="1" i="0">
                <a:solidFill>
                  <a:srgbClr val="FFFFFF"/>
                </a:solidFill>
                <a:latin typeface="Segoe UI"/>
              </a:rPr>
              <a:t>Two tracks — final shape comes from today's discussion.</a:t>
            </a:r>
          </a:p>
        </p:txBody>
      </p:sp>
      <p:sp>
        <p:nvSpPr>
          <p:cNvPr id="5" name="Rectangle 4"/>
          <p:cNvSpPr/>
          <p:nvPr/>
        </p:nvSpPr>
        <p:spPr>
          <a:xfrm>
            <a:off x="667512" y="1572768"/>
            <a:ext cx="777240" cy="411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57400"/>
            <a:ext cx="5317236" cy="338328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600" b="1" i="0">
                <a:solidFill>
                  <a:srgbClr val="F0C040"/>
                </a:solidFill>
                <a:latin typeface="Segoe UI"/>
              </a:rPr>
              <a:t>Track 1 — Embedded Growth Team</a:t>
            </a:r>
          </a:p>
          <a:p>
            <a:pPr algn="l">
              <a:spcBef>
                <a:spcPts val="0"/>
              </a:spcBef>
              <a:spcAft>
                <a:spcPts val="300"/>
              </a:spcAft>
            </a:pPr>
            <a:r>
              <a:rPr sz="1200" b="0" i="0">
                <a:solidFill>
                  <a:srgbClr val="C9CAD3"/>
                </a:solidFill>
                <a:latin typeface="Segoe UI"/>
              </a:rPr>
              <a:t>A dedicated lead-gen / growth expert working only</a:t>
            </a:r>
          </a:p>
          <a:p>
            <a:pPr algn="l">
              <a:spcBef>
                <a:spcPts val="0"/>
              </a:spcBef>
              <a:spcAft>
                <a:spcPts val="300"/>
              </a:spcAft>
            </a:pPr>
            <a:r>
              <a:rPr sz="1200" b="0" i="0">
                <a:solidFill>
                  <a:srgbClr val="C9CAD3"/>
                </a:solidFill>
                <a:latin typeface="Segoe UI"/>
              </a:rPr>
              <a:t>for Wonder Gifts — performance campaigns, corporate</a:t>
            </a:r>
          </a:p>
          <a:p>
            <a:pPr algn="l">
              <a:spcBef>
                <a:spcPts val="0"/>
              </a:spcBef>
              <a:spcAft>
                <a:spcPts val="300"/>
              </a:spcAft>
            </a:pPr>
            <a:r>
              <a:rPr sz="1200" b="0" i="0">
                <a:solidFill>
                  <a:srgbClr val="C9CAD3"/>
                </a:solidFill>
                <a:latin typeface="Segoe UI"/>
              </a:rPr>
              <a:t>outreach, partnerships and CRM follow-up.</a:t>
            </a:r>
          </a:p>
          <a:p>
            <a:pPr algn="l">
              <a:spcBef>
                <a:spcPts val="0"/>
              </a:spcBef>
              <a:spcAft>
                <a:spcPts val="300"/>
              </a:spcAft>
            </a:pPr>
            <a:r>
              <a:rPr sz="1200" b="0" i="0">
                <a:solidFill>
                  <a:srgbClr val="C9CAD3"/>
                </a:solidFill>
                <a:latin typeface="Segoe UI"/>
              </a:rPr>
              <a:t/>
            </a:r>
          </a:p>
          <a:p>
            <a:pPr algn="l">
              <a:spcBef>
                <a:spcPts val="0"/>
              </a:spcBef>
              <a:spcAft>
                <a:spcPts val="300"/>
              </a:spcAft>
            </a:pPr>
            <a:r>
              <a:rPr sz="1200" b="0" i="0">
                <a:solidFill>
                  <a:srgbClr val="C9CAD3"/>
                </a:solidFill>
                <a:latin typeface="Segoe UI"/>
              </a:rPr>
              <a:t>Live in 7 days · you pay just the salary · 48-hour</a:t>
            </a:r>
          </a:p>
          <a:p>
            <a:pPr algn="l">
              <a:spcBef>
                <a:spcPts val="0"/>
              </a:spcBef>
              <a:spcAft>
                <a:spcPts val="300"/>
              </a:spcAft>
            </a:pPr>
            <a:r>
              <a:rPr sz="1200" b="0" i="0">
                <a:solidFill>
                  <a:srgbClr val="C9CAD3"/>
                </a:solidFill>
                <a:latin typeface="Segoe UI"/>
              </a:rPr>
              <a:t>replacement guarantee · scale or pause anytime.</a:t>
            </a:r>
          </a:p>
        </p:txBody>
      </p:sp>
      <p:sp>
        <p:nvSpPr>
          <p:cNvPr id="7" name="Rectangle 6"/>
          <p:cNvSpPr/>
          <p:nvPr/>
        </p:nvSpPr>
        <p:spPr>
          <a:xfrm>
            <a:off x="877824" y="2240280"/>
            <a:ext cx="310896" cy="3200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31636" y="2057400"/>
            <a:ext cx="5317236" cy="3383280"/>
          </a:xfrm>
          <a:prstGeom prst="roundRect">
            <a:avLst>
              <a:gd name="adj" fmla="val 5000"/>
            </a:avLst>
          </a:prstGeom>
          <a:solidFill>
            <a:srgbClr val="161620"/>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19456" tIns="237744" bIns="182880"/>
          <a:lstStyle/>
          <a:p>
            <a:pPr algn="l">
              <a:spcBef>
                <a:spcPts val="0"/>
              </a:spcBef>
              <a:spcAft>
                <a:spcPts val="700"/>
              </a:spcAft>
            </a:pPr>
            <a:r>
              <a:rPr sz="1600" b="1" i="0">
                <a:solidFill>
                  <a:srgbClr val="F0C040"/>
                </a:solidFill>
                <a:latin typeface="Segoe UI"/>
              </a:rPr>
              <a:t>Track 2 — HNI &amp; Corporate Reach</a:t>
            </a:r>
          </a:p>
          <a:p>
            <a:pPr algn="l">
              <a:spcBef>
                <a:spcPts val="0"/>
              </a:spcBef>
              <a:spcAft>
                <a:spcPts val="300"/>
              </a:spcAft>
            </a:pPr>
            <a:r>
              <a:rPr sz="1200" b="0" i="0">
                <a:solidFill>
                  <a:srgbClr val="C9CAD3"/>
                </a:solidFill>
                <a:latin typeface="Segoe UI"/>
              </a:rPr>
              <a:t>Curated, segmented HNI and premium-corporate</a:t>
            </a:r>
          </a:p>
          <a:p>
            <a:pPr algn="l">
              <a:spcBef>
                <a:spcPts val="0"/>
              </a:spcBef>
              <a:spcAft>
                <a:spcPts val="300"/>
              </a:spcAft>
            </a:pPr>
            <a:r>
              <a:rPr sz="1200" b="0" i="0">
                <a:solidFill>
                  <a:srgbClr val="C9CAD3"/>
                </a:solidFill>
                <a:latin typeface="Segoe UI"/>
              </a:rPr>
              <a:t>decision-maker audiences — by city, industry and</a:t>
            </a:r>
          </a:p>
          <a:p>
            <a:pPr algn="l">
              <a:spcBef>
                <a:spcPts val="0"/>
              </a:spcBef>
              <a:spcAft>
                <a:spcPts val="300"/>
              </a:spcAft>
            </a:pPr>
            <a:r>
              <a:rPr sz="1200" b="0" i="0">
                <a:solidFill>
                  <a:srgbClr val="C9CAD3"/>
                </a:solidFill>
                <a:latin typeface="Segoe UI"/>
              </a:rPr>
              <a:t>spend profile — with targeted, compliant outreach.</a:t>
            </a:r>
          </a:p>
          <a:p>
            <a:pPr algn="l">
              <a:spcBef>
                <a:spcPts val="0"/>
              </a:spcBef>
              <a:spcAft>
                <a:spcPts val="300"/>
              </a:spcAft>
            </a:pPr>
            <a:r>
              <a:rPr sz="1200" b="0" i="0">
                <a:solidFill>
                  <a:srgbClr val="C9CAD3"/>
                </a:solidFill>
                <a:latin typeface="Segoe UI"/>
              </a:rPr>
              <a:t/>
            </a:r>
          </a:p>
          <a:p>
            <a:pPr algn="l">
              <a:spcBef>
                <a:spcPts val="0"/>
              </a:spcBef>
              <a:spcAft>
                <a:spcPts val="300"/>
              </a:spcAft>
            </a:pPr>
            <a:r>
              <a:rPr sz="1200" b="0" i="0">
                <a:solidFill>
                  <a:srgbClr val="C9CAD3"/>
                </a:solidFill>
                <a:latin typeface="Segoe UI"/>
              </a:rPr>
              <a:t>Built for an AED 300–3,000+ experiential product:</a:t>
            </a:r>
          </a:p>
          <a:p>
            <a:pPr algn="l">
              <a:spcBef>
                <a:spcPts val="0"/>
              </a:spcBef>
              <a:spcAft>
                <a:spcPts val="300"/>
              </a:spcAft>
            </a:pPr>
            <a:r>
              <a:rPr sz="1200" b="0" i="0">
                <a:solidFill>
                  <a:srgbClr val="C9CAD3"/>
                </a:solidFill>
                <a:latin typeface="Segoe UI"/>
              </a:rPr>
              <a:t>reach exactly the buyers it was made for.</a:t>
            </a:r>
          </a:p>
        </p:txBody>
      </p:sp>
      <p:sp>
        <p:nvSpPr>
          <p:cNvPr id="9" name="Rectangle 8"/>
          <p:cNvSpPr/>
          <p:nvPr/>
        </p:nvSpPr>
        <p:spPr>
          <a:xfrm>
            <a:off x="6469379" y="2240280"/>
            <a:ext cx="310896" cy="32004"/>
          </a:xfrm>
          <a:prstGeom prst="rect">
            <a:avLst/>
          </a:prstGeom>
          <a:solidFill>
            <a:srgbClr val="6A3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437376"/>
            <a:ext cx="8229600" cy="274320"/>
          </a:xfrm>
          <a:prstGeom prst="rect">
            <a:avLst/>
          </a:prstGeom>
          <a:noFill/>
        </p:spPr>
        <p:txBody>
          <a:bodyPr wrap="square">
            <a:spAutoFit/>
          </a:bodyPr>
          <a:lstStyle/>
          <a:p>
            <a:pPr algn="l">
              <a:spcBef>
                <a:spcPts val="0"/>
              </a:spcBef>
              <a:spcAft>
                <a:spcPts val="400"/>
              </a:spcAft>
            </a:pPr>
            <a:r>
              <a:rPr sz="900" b="0" i="0">
                <a:solidFill>
                  <a:srgbClr val="828292"/>
                </a:solidFill>
                <a:latin typeface="Segoe UI"/>
              </a:rPr>
              <a:t>AnantaSutra   ·   anantasutra.com</a:t>
            </a:r>
          </a:p>
        </p:txBody>
      </p:sp>
      <p:sp>
        <p:nvSpPr>
          <p:cNvPr id="11" name="TextBox 10"/>
          <p:cNvSpPr txBox="1"/>
          <p:nvPr/>
        </p:nvSpPr>
        <p:spPr>
          <a:xfrm>
            <a:off x="10881360" y="6437376"/>
            <a:ext cx="822960" cy="274320"/>
          </a:xfrm>
          <a:prstGeom prst="rect">
            <a:avLst/>
          </a:prstGeom>
          <a:noFill/>
        </p:spPr>
        <p:txBody>
          <a:bodyPr wrap="square">
            <a:spAutoFit/>
          </a:bodyPr>
          <a:lstStyle/>
          <a:p>
            <a:pPr algn="r">
              <a:spcBef>
                <a:spcPts val="0"/>
              </a:spcBef>
              <a:spcAft>
                <a:spcPts val="400"/>
              </a:spcAft>
            </a:pPr>
            <a:r>
              <a:rPr sz="900" b="0" i="0">
                <a:solidFill>
                  <a:srgbClr val="828292"/>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621024" y="365759"/>
            <a:ext cx="4937760" cy="4937760"/>
          </a:xfrm>
          <a:prstGeom prst="ellipse">
            <a:avLst/>
          </a:prstGeom>
          <a:noFill/>
          <a:ln w="1397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215384" y="960120"/>
            <a:ext cx="3749039" cy="3749039"/>
          </a:xfrm>
          <a:prstGeom prst="ellipse">
            <a:avLst/>
          </a:prstGeom>
          <a:noFill/>
          <a:ln w="13970">
            <a:solidFill>
              <a:srgbClr val="6A3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809744" y="1554480"/>
            <a:ext cx="2560320" cy="2560320"/>
          </a:xfrm>
          <a:prstGeom prst="ellipse">
            <a:avLst/>
          </a:prstGeom>
          <a:noFill/>
          <a:ln w="1397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365760"/>
          </a:xfrm>
          <a:prstGeom prst="rect">
            <a:avLst/>
          </a:prstGeom>
          <a:noFill/>
        </p:spPr>
        <p:txBody>
          <a:bodyPr wrap="square">
            <a:spAutoFit/>
          </a:bodyPr>
          <a:lstStyle/>
          <a:p>
            <a:pPr algn="ctr">
              <a:spcBef>
                <a:spcPts val="0"/>
              </a:spcBef>
              <a:spcAft>
                <a:spcPts val="400"/>
              </a:spcAft>
            </a:pPr>
            <a:r>
              <a:rPr sz="1400" b="1" i="0">
                <a:solidFill>
                  <a:srgbClr val="E8A317"/>
                </a:solidFill>
                <a:latin typeface="Segoe UI"/>
              </a:rPr>
              <a:t>THE ROAD FROM HERE</a:t>
            </a:r>
          </a:p>
        </p:txBody>
      </p:sp>
      <p:sp>
        <p:nvSpPr>
          <p:cNvPr id="7" name="TextBox 6"/>
          <p:cNvSpPr txBox="1"/>
          <p:nvPr/>
        </p:nvSpPr>
        <p:spPr>
          <a:xfrm>
            <a:off x="914400" y="1783080"/>
            <a:ext cx="10332720" cy="914400"/>
          </a:xfrm>
          <a:prstGeom prst="rect">
            <a:avLst/>
          </a:prstGeom>
          <a:noFill/>
        </p:spPr>
        <p:txBody>
          <a:bodyPr wrap="square">
            <a:spAutoFit/>
          </a:bodyPr>
          <a:lstStyle/>
          <a:p>
            <a:pPr algn="ctr">
              <a:spcBef>
                <a:spcPts val="0"/>
              </a:spcBef>
              <a:spcAft>
                <a:spcPts val="400"/>
              </a:spcAft>
            </a:pPr>
            <a:r>
              <a:rPr sz="4000" b="1" i="0">
                <a:solidFill>
                  <a:srgbClr val="FFFFFF"/>
                </a:solidFill>
                <a:latin typeface="Segoe UI"/>
              </a:rPr>
              <a:t>Let's build your India engine.</a:t>
            </a:r>
          </a:p>
        </p:txBody>
      </p:sp>
      <p:sp>
        <p:nvSpPr>
          <p:cNvPr id="8" name="TextBox 7"/>
          <p:cNvSpPr txBox="1"/>
          <p:nvPr/>
        </p:nvSpPr>
        <p:spPr>
          <a:xfrm>
            <a:off x="2194560" y="3017520"/>
            <a:ext cx="7772400" cy="1828800"/>
          </a:xfrm>
          <a:prstGeom prst="rect">
            <a:avLst/>
          </a:prstGeom>
          <a:noFill/>
        </p:spPr>
        <p:txBody>
          <a:bodyPr wrap="square">
            <a:spAutoFit/>
          </a:bodyPr>
          <a:lstStyle/>
          <a:p>
            <a:pPr algn="ctr">
              <a:spcBef>
                <a:spcPts val="0"/>
              </a:spcBef>
              <a:spcAft>
                <a:spcPts val="600"/>
              </a:spcAft>
            </a:pPr>
            <a:r>
              <a:rPr sz="1500" b="0" i="0">
                <a:solidFill>
                  <a:srgbClr val="C9CAD3"/>
                </a:solidFill>
                <a:latin typeface="Segoe UI"/>
              </a:rPr>
              <a:t>Today — your requirements, understood in full</a:t>
            </a:r>
          </a:p>
          <a:p>
            <a:pPr algn="ctr">
              <a:spcBef>
                <a:spcPts val="0"/>
              </a:spcBef>
              <a:spcAft>
                <a:spcPts val="600"/>
              </a:spcAft>
            </a:pPr>
            <a:r>
              <a:rPr sz="1500" b="0" i="0">
                <a:solidFill>
                  <a:srgbClr val="C9CAD3"/>
                </a:solidFill>
                <a:latin typeface="Segoe UI"/>
              </a:rPr>
              <a:t>Within 24 hours — NDA shared and signed</a:t>
            </a:r>
          </a:p>
          <a:p>
            <a:pPr algn="ctr">
              <a:spcBef>
                <a:spcPts val="0"/>
              </a:spcBef>
              <a:spcAft>
                <a:spcPts val="600"/>
              </a:spcAft>
            </a:pPr>
            <a:r>
              <a:rPr sz="1500" b="0" i="0">
                <a:solidFill>
                  <a:srgbClr val="C9CAD3"/>
                </a:solidFill>
                <a:latin typeface="Segoe UI"/>
              </a:rPr>
              <a:t>Within the week — full proposal: every issue listed, resolved, with a definite timeline</a:t>
            </a:r>
          </a:p>
          <a:p>
            <a:pPr algn="ctr">
              <a:spcBef>
                <a:spcPts val="0"/>
              </a:spcBef>
              <a:spcAft>
                <a:spcPts val="0"/>
              </a:spcAft>
            </a:pPr>
            <a:r>
              <a:rPr sz="1500" b="1" i="0">
                <a:solidFill>
                  <a:srgbClr val="F0C040"/>
                </a:solidFill>
                <a:latin typeface="Segoe UI"/>
              </a:rPr>
              <a:t>Then — Himanshu &amp; Yash connected, execution begins</a:t>
            </a:r>
          </a:p>
        </p:txBody>
      </p:sp>
      <p:sp>
        <p:nvSpPr>
          <p:cNvPr id="9" name="Rounded Rectangle 8"/>
          <p:cNvSpPr/>
          <p:nvPr/>
        </p:nvSpPr>
        <p:spPr>
          <a:xfrm>
            <a:off x="4498848" y="5074920"/>
            <a:ext cx="3200400" cy="640080"/>
          </a:xfrm>
          <a:prstGeom prst="roundRect">
            <a:avLst>
              <a:gd name="adj" fmla="val 5000"/>
            </a:avLst>
          </a:prstGeom>
          <a:solidFill>
            <a:srgbClr val="E8A317"/>
          </a:solidFill>
          <a:ln w="952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400"/>
              </a:spcAft>
            </a:pPr>
            <a:r>
              <a:rPr sz="1500" b="1" i="0">
                <a:solidFill>
                  <a:srgbClr val="0A0A0F"/>
                </a:solidFill>
                <a:latin typeface="Segoe UI"/>
              </a:rPr>
              <a:t>contact@anantasutra.com</a:t>
            </a:r>
          </a:p>
        </p:txBody>
      </p:sp>
      <p:sp>
        <p:nvSpPr>
          <p:cNvPr id="10" name="TextBox 9"/>
          <p:cNvSpPr txBox="1"/>
          <p:nvPr/>
        </p:nvSpPr>
        <p:spPr>
          <a:xfrm>
            <a:off x="914400" y="5943600"/>
            <a:ext cx="10332720" cy="365760"/>
          </a:xfrm>
          <a:prstGeom prst="rect">
            <a:avLst/>
          </a:prstGeom>
          <a:noFill/>
        </p:spPr>
        <p:txBody>
          <a:bodyPr wrap="square">
            <a:spAutoFit/>
          </a:bodyPr>
          <a:lstStyle/>
          <a:p>
            <a:pPr algn="ctr">
              <a:spcBef>
                <a:spcPts val="0"/>
              </a:spcBef>
              <a:spcAft>
                <a:spcPts val="400"/>
              </a:spcAft>
            </a:pPr>
            <a:r>
              <a:rPr sz="1200" b="0" i="0">
                <a:solidFill>
                  <a:srgbClr val="828292"/>
                </a:solidFill>
                <a:latin typeface="Segoe UI"/>
              </a:rPr>
              <a:t>Bhavya Duneja — Co-founder   ·   anantasutra.com   ·   Delhi, India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